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6"/>
  </p:notesMasterIdLst>
  <p:sldIdLst>
    <p:sldId id="291" r:id="rId2"/>
    <p:sldId id="292" r:id="rId3"/>
    <p:sldId id="293" r:id="rId4"/>
    <p:sldId id="294" r:id="rId5"/>
    <p:sldId id="295" r:id="rId6"/>
    <p:sldId id="296" r:id="rId7"/>
    <p:sldId id="309" r:id="rId8"/>
    <p:sldId id="297" r:id="rId9"/>
    <p:sldId id="298" r:id="rId10"/>
    <p:sldId id="270" r:id="rId11"/>
    <p:sldId id="300" r:id="rId12"/>
    <p:sldId id="301" r:id="rId13"/>
    <p:sldId id="314" r:id="rId14"/>
    <p:sldId id="303" r:id="rId15"/>
    <p:sldId id="304" r:id="rId16"/>
    <p:sldId id="313" r:id="rId17"/>
    <p:sldId id="306" r:id="rId18"/>
    <p:sldId id="307" r:id="rId19"/>
    <p:sldId id="308" r:id="rId20"/>
    <p:sldId id="310" r:id="rId21"/>
    <p:sldId id="311" r:id="rId22"/>
    <p:sldId id="312" r:id="rId23"/>
    <p:sldId id="288" r:id="rId24"/>
    <p:sldId id="289" r:id="rId25"/>
  </p:sldIdLst>
  <p:sldSz cx="12192000" cy="6858000"/>
  <p:notesSz cx="6858000" cy="12192000"/>
  <p:embeddedFontLst>
    <p:embeddedFont>
      <p:font typeface="PT Sans Bold" panose="020B0604020202020204" charset="0"/>
      <p:regular r:id="rId27"/>
    </p:embeddedFont>
    <p:embeddedFont>
      <p:font typeface="Consolas" panose="020B0609020204030204" pitchFamily="49" charset="0"/>
      <p:regular r:id="rId28"/>
      <p:bold r:id="rId29"/>
      <p:italic r:id="rId30"/>
      <p:boldItalic r:id="rId31"/>
    </p:embeddedFont>
    <p:embeddedFont>
      <p:font typeface="Nunito SemiBold" panose="020B0604020202020204" charset="0"/>
      <p:regular r:id="rId32"/>
    </p:embeddedFont>
    <p:embeddedFont>
      <p:font typeface="PT Sans" panose="020B0604020202020204" charset="0"/>
      <p:regular r:id="rId33"/>
    </p:embeddedFont>
    <p:embeddedFont>
      <p:font typeface="Calibri" panose="020F0502020204030204" pitchFamily="34" charset="0"/>
      <p:regular r:id="rId34"/>
      <p:bold r:id="rId35"/>
      <p:italic r:id="rId36"/>
      <p:boldItalic r:id="rId3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DA945"/>
    <a:srgbClr val="D7425E"/>
    <a:srgbClr val="FFCA28"/>
    <a:srgbClr val="0000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44" autoAdjust="0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59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font" Target="fonts/font11.fnt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font" Target="fonts/font10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14367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2404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5567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5728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4494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4593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0962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0582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2534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9925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4963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81114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45101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48297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25827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5570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86600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0517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53385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70224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80952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079485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hyperlink" Target="https://gamma.app/?utm_source=made-with-gamma" TargetMode="Externa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hyperlink" Target="https://gamma.app/?utm_source=made-with-gamma" TargetMode="Externa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hyperlink" Target="https://gamma.app/?utm_source=made-with-gamma" TargetMode="Externa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png"/><Relationship Id="rId4" Type="http://schemas.openxmlformats.org/officeDocument/2006/relationships/hyperlink" Target="https://gamma.app/?utm_source=made-with-gamma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2E">
              <a:alpha val="80000"/>
            </a:srgbClr>
          </a:solidFill>
          <a:ln/>
        </p:spPr>
      </p:sp>
      <p:pic>
        <p:nvPicPr>
          <p:cNvPr id="6" name="Image 2" descr="preencoded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2E">
              <a:alpha val="80000"/>
            </a:srgbClr>
          </a:solidFill>
          <a:ln/>
        </p:spPr>
      </p:sp>
      <p:pic>
        <p:nvPicPr>
          <p:cNvPr id="6" name="Image 2" descr="preencoded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2E">
              <a:alpha val="80000"/>
            </a:srgbClr>
          </a:solidFill>
          <a:ln/>
        </p:spPr>
      </p:sp>
      <p:pic>
        <p:nvPicPr>
          <p:cNvPr id="6" name="Image 2" descr="preencoded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2E">
              <a:alpha val="75000"/>
            </a:srgbClr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2E">
              <a:alpha val="80000"/>
            </a:srgbClr>
          </a:solidFill>
          <a:ln/>
        </p:spPr>
      </p:sp>
      <p:pic>
        <p:nvPicPr>
          <p:cNvPr id="6" name="Image 2" descr="preencoded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-4-6.sv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4-4.svg"/><Relationship Id="rId5" Type="http://schemas.openxmlformats.org/officeDocument/2006/relationships/image" Target="../media/image9.png"/><Relationship Id="rId10" Type="http://schemas.openxmlformats.org/officeDocument/2006/relationships/image" Target="../media/image-4-8.svg"/><Relationship Id="rId4" Type="http://schemas.openxmlformats.org/officeDocument/2006/relationships/image" Target="../media/image-4-2.sv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-9-6.sv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9-4.svg"/><Relationship Id="rId5" Type="http://schemas.openxmlformats.org/officeDocument/2006/relationships/image" Target="../media/image15.png"/><Relationship Id="rId10" Type="http://schemas.openxmlformats.org/officeDocument/2006/relationships/image" Target="../media/image-9-8.svg"/><Relationship Id="rId4" Type="http://schemas.openxmlformats.org/officeDocument/2006/relationships/image" Target="../media/image-9-2.svg"/><Relationship Id="rId9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-10-6.svg"/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10-4.svg"/><Relationship Id="rId5" Type="http://schemas.openxmlformats.org/officeDocument/2006/relationships/image" Target="../media/image19.png"/><Relationship Id="rId10" Type="http://schemas.openxmlformats.org/officeDocument/2006/relationships/image" Target="../media/image-10-8.svg"/><Relationship Id="rId4" Type="http://schemas.openxmlformats.org/officeDocument/2006/relationships/image" Target="../media/image-10-2.svg"/><Relationship Id="rId9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5" Type="http://schemas.openxmlformats.org/officeDocument/2006/relationships/image" Target="../media/image28.png"/><Relationship Id="rId10" Type="http://schemas.openxmlformats.org/officeDocument/2006/relationships/image" Target="../media/image33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-18-6.svg"/><Relationship Id="rId3" Type="http://schemas.openxmlformats.org/officeDocument/2006/relationships/image" Target="../media/image38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11" Type="http://schemas.openxmlformats.org/officeDocument/2006/relationships/image" Target="../media/image-18-9.svg"/><Relationship Id="rId5" Type="http://schemas.openxmlformats.org/officeDocument/2006/relationships/image" Target="../media/image-18-3.svg"/><Relationship Id="rId10" Type="http://schemas.openxmlformats.org/officeDocument/2006/relationships/image" Target="../media/image43.png"/><Relationship Id="rId4" Type="http://schemas.openxmlformats.org/officeDocument/2006/relationships/image" Target="../media/image39.png"/><Relationship Id="rId9" Type="http://schemas.openxmlformats.org/officeDocument/2006/relationships/image" Target="../media/image4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-20-6.svg"/><Relationship Id="rId3" Type="http://schemas.openxmlformats.org/officeDocument/2006/relationships/image" Target="../media/image44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20-4.svg"/><Relationship Id="rId5" Type="http://schemas.openxmlformats.org/officeDocument/2006/relationships/image" Target="../media/image45.png"/><Relationship Id="rId4" Type="http://schemas.openxmlformats.org/officeDocument/2006/relationships/image" Target="../media/image-20-2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47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12-4.svg"/><Relationship Id="rId11" Type="http://schemas.openxmlformats.org/officeDocument/2006/relationships/image" Target="../media/image-12-6.svg"/><Relationship Id="rId10" Type="http://schemas.openxmlformats.org/officeDocument/2006/relationships/image" Target="../media/image50.png"/><Relationship Id="rId4" Type="http://schemas.openxmlformats.org/officeDocument/2006/relationships/image" Target="../media/image-12-2.svg"/><Relationship Id="rId9" Type="http://schemas.openxmlformats.org/officeDocument/2006/relationships/image" Target="../media/image-27-4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-22-6.svg"/><Relationship Id="rId3" Type="http://schemas.openxmlformats.org/officeDocument/2006/relationships/image" Target="../media/image51.png"/><Relationship Id="rId7" Type="http://schemas.openxmlformats.org/officeDocument/2006/relationships/image" Target="../media/image5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22-4.svg"/><Relationship Id="rId5" Type="http://schemas.openxmlformats.org/officeDocument/2006/relationships/image" Target="../media/image52.png"/><Relationship Id="rId4" Type="http://schemas.openxmlformats.org/officeDocument/2006/relationships/image" Target="../media/image-22-2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-27-6.svg"/><Relationship Id="rId3" Type="http://schemas.openxmlformats.org/officeDocument/2006/relationships/image" Target="../media/image54.png"/><Relationship Id="rId7" Type="http://schemas.openxmlformats.org/officeDocument/2006/relationships/image" Target="../media/image5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27-4.svg"/><Relationship Id="rId5" Type="http://schemas.openxmlformats.org/officeDocument/2006/relationships/image" Target="../media/image49.png"/><Relationship Id="rId4" Type="http://schemas.openxmlformats.org/officeDocument/2006/relationships/image" Target="../media/image-27-2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-28-6.svg"/><Relationship Id="rId3" Type="http://schemas.openxmlformats.org/officeDocument/2006/relationships/image" Target="../media/image56.png"/><Relationship Id="rId7" Type="http://schemas.openxmlformats.org/officeDocument/2006/relationships/image" Target="../media/image5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28-4.svg"/><Relationship Id="rId5" Type="http://schemas.openxmlformats.org/officeDocument/2006/relationships/image" Target="../media/image57.png"/><Relationship Id="rId10" Type="http://schemas.openxmlformats.org/officeDocument/2006/relationships/image" Target="../media/image-28-8.svg"/><Relationship Id="rId4" Type="http://schemas.openxmlformats.org/officeDocument/2006/relationships/image" Target="../media/image-28-2.svg"/><Relationship Id="rId9" Type="http://schemas.openxmlformats.org/officeDocument/2006/relationships/image" Target="../media/image5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-30-6.svg"/><Relationship Id="rId3" Type="http://schemas.openxmlformats.org/officeDocument/2006/relationships/image" Target="../media/image60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30-4.svg"/><Relationship Id="rId5" Type="http://schemas.openxmlformats.org/officeDocument/2006/relationships/image" Target="../media/image61.png"/><Relationship Id="rId4" Type="http://schemas.openxmlformats.org/officeDocument/2006/relationships/image" Target="../media/image-30-2.sv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-33-6.svg"/><Relationship Id="rId3" Type="http://schemas.openxmlformats.org/officeDocument/2006/relationships/image" Target="../media/image63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23-4.svg"/><Relationship Id="rId5" Type="http://schemas.openxmlformats.org/officeDocument/2006/relationships/image" Target="../media/image52.png"/><Relationship Id="rId4" Type="http://schemas.openxmlformats.org/officeDocument/2006/relationships/image" Target="../media/image-33-2.sv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269971" y="2664123"/>
            <a:ext cx="6223638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Multi-Agent Orchestration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5269971" y="3439120"/>
            <a:ext cx="6223638" cy="754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33000"/>
              </a:lnSpc>
              <a:spcAft>
                <a:spcPts val="1500"/>
              </a:spcAft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From Prompts to Autonomous AI </a:t>
            </a:r>
            <a:r>
              <a:rPr lang="en-US" sz="1350" dirty="0" smtClean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Teams</a:t>
            </a:r>
            <a:endParaRPr lang="ar-EG" sz="1350" dirty="0" smtClean="0">
              <a:solidFill>
                <a:srgbClr val="FFFFFF"/>
              </a:solidFill>
              <a:latin typeface="PT Sans" pitchFamily="34" charset="0"/>
              <a:ea typeface="PT Sans" pitchFamily="34" charset="-122"/>
              <a:cs typeface="PT Sans" pitchFamily="34" charset="-120"/>
            </a:endParaRPr>
          </a:p>
          <a:p>
            <a:pPr>
              <a:lnSpc>
                <a:spcPct val="133000"/>
              </a:lnSpc>
              <a:spcAft>
                <a:spcPts val="1500"/>
              </a:spcAft>
            </a:pPr>
            <a:r>
              <a:rPr lang="en-US" sz="1350" dirty="0" smtClean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 </a:t>
            </a: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Complete Architectural Overview &amp; Practical Implementation Frameworks</a:t>
            </a:r>
            <a:endParaRPr lang="en-US" sz="13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120"/>
            <a:ext cx="4571886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11069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142206"/>
            <a:ext cx="10795524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The Evolution of AI Interaction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98086" y="2004516"/>
            <a:ext cx="11405108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How we shifted from static queries to autonomous multi-agent ecosystems.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98086" y="4097933"/>
            <a:ext cx="10795524" cy="19050"/>
          </a:xfrm>
          <a:prstGeom prst="roundRect">
            <a:avLst>
              <a:gd name="adj" fmla="val 49999"/>
            </a:avLst>
          </a:prstGeom>
          <a:solidFill>
            <a:srgbClr val="FFFFFF">
              <a:alpha val="24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782123" y="3574355"/>
            <a:ext cx="19050" cy="523577"/>
          </a:xfrm>
          <a:prstGeom prst="roundRect">
            <a:avLst>
              <a:gd name="adj" fmla="val 49999"/>
            </a:avLst>
          </a:prstGeom>
          <a:solidFill>
            <a:srgbClr val="F2B42D"/>
          </a:solidFill>
          <a:ln/>
        </p:spPr>
      </p:sp>
      <p:sp>
        <p:nvSpPr>
          <p:cNvPr id="6" name="Shape 4"/>
          <p:cNvSpPr/>
          <p:nvPr/>
        </p:nvSpPr>
        <p:spPr>
          <a:xfrm>
            <a:off x="2595299" y="3901579"/>
            <a:ext cx="392698" cy="392708"/>
          </a:xfrm>
          <a:prstGeom prst="ellipse">
            <a:avLst/>
          </a:prstGeom>
          <a:solidFill>
            <a:srgbClr val="00002E"/>
          </a:solidFill>
          <a:ln w="19050">
            <a:solidFill>
              <a:srgbClr val="F2B4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68471" y="3943945"/>
            <a:ext cx="246354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72607" y="2480072"/>
            <a:ext cx="383818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2022 — Prompting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72607" y="2841427"/>
            <a:ext cx="3838181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Single-turn Q&amp;A and basic instructions.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984923" y="4097933"/>
            <a:ext cx="19050" cy="523577"/>
          </a:xfrm>
          <a:prstGeom prst="roundRect">
            <a:avLst>
              <a:gd name="adj" fmla="val 49999"/>
            </a:avLst>
          </a:prstGeom>
          <a:solidFill>
            <a:srgbClr val="D7425E"/>
          </a:solidFill>
          <a:ln/>
        </p:spPr>
      </p:sp>
      <p:sp>
        <p:nvSpPr>
          <p:cNvPr id="11" name="Shape 9"/>
          <p:cNvSpPr/>
          <p:nvPr/>
        </p:nvSpPr>
        <p:spPr>
          <a:xfrm>
            <a:off x="4798099" y="3901579"/>
            <a:ext cx="392698" cy="392708"/>
          </a:xfrm>
          <a:prstGeom prst="ellipse">
            <a:avLst/>
          </a:prstGeom>
          <a:solidFill>
            <a:srgbClr val="00002E"/>
          </a:solidFill>
          <a:ln w="19050">
            <a:solidFill>
              <a:srgbClr val="D7425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71271" y="3943945"/>
            <a:ext cx="246354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2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075307" y="4796036"/>
            <a:ext cx="383828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2023 — RAG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075307" y="5157391"/>
            <a:ext cx="3838281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Augmenting LLMs with external document retrieval.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187623" y="3574355"/>
            <a:ext cx="19050" cy="523577"/>
          </a:xfrm>
          <a:prstGeom prst="roundRect">
            <a:avLst>
              <a:gd name="adj" fmla="val 49999"/>
            </a:avLst>
          </a:prstGeom>
          <a:solidFill>
            <a:srgbClr val="DD785E"/>
          </a:solidFill>
          <a:ln/>
        </p:spPr>
      </p:sp>
      <p:sp>
        <p:nvSpPr>
          <p:cNvPr id="16" name="Shape 14"/>
          <p:cNvSpPr/>
          <p:nvPr/>
        </p:nvSpPr>
        <p:spPr>
          <a:xfrm>
            <a:off x="7000799" y="3901579"/>
            <a:ext cx="392698" cy="392708"/>
          </a:xfrm>
          <a:prstGeom prst="ellipse">
            <a:avLst/>
          </a:prstGeom>
          <a:solidFill>
            <a:srgbClr val="00002E"/>
          </a:solidFill>
          <a:ln w="19050">
            <a:solidFill>
              <a:srgbClr val="DD78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73971" y="3943945"/>
            <a:ext cx="246354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3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278008" y="2480072"/>
            <a:ext cx="383828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2024 — Single Agents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278008" y="2841427"/>
            <a:ext cx="3838281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Tool calling, web browsing, and simple execution loops.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390423" y="4097933"/>
            <a:ext cx="19050" cy="523577"/>
          </a:xfrm>
          <a:prstGeom prst="roundRect">
            <a:avLst>
              <a:gd name="adj" fmla="val 49999"/>
            </a:avLst>
          </a:prstGeom>
          <a:solidFill>
            <a:srgbClr val="48A8E2"/>
          </a:solidFill>
          <a:ln/>
        </p:spPr>
      </p:sp>
      <p:sp>
        <p:nvSpPr>
          <p:cNvPr id="21" name="Shape 19"/>
          <p:cNvSpPr/>
          <p:nvPr/>
        </p:nvSpPr>
        <p:spPr>
          <a:xfrm>
            <a:off x="9203599" y="3901579"/>
            <a:ext cx="392698" cy="392708"/>
          </a:xfrm>
          <a:prstGeom prst="ellipse">
            <a:avLst/>
          </a:prstGeom>
          <a:solidFill>
            <a:srgbClr val="00002E"/>
          </a:solidFill>
          <a:ln w="19050">
            <a:solidFill>
              <a:srgbClr val="48A8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6771" y="3943945"/>
            <a:ext cx="246354" cy="3079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4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7480807" y="4796036"/>
            <a:ext cx="383828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2025/2026 — Multi-Agent Orchestration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480807" y="5157391"/>
            <a:ext cx="3838281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Autonomous agent teams collaborating on complex workflows.</a:t>
            </a:r>
            <a:endParaRPr lang="en-US" sz="1350" dirty="0"/>
          </a:p>
        </p:txBody>
      </p:sp>
      <p:sp>
        <p:nvSpPr>
          <p:cNvPr id="25" name="Rectangle 24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927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603673"/>
            <a:ext cx="10795524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Why Single LLMs Fail at Complex Tasks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98086" y="2465983"/>
            <a:ext cx="5310452" cy="1306909"/>
          </a:xfrm>
          <a:prstGeom prst="roundRect">
            <a:avLst>
              <a:gd name="adj" fmla="val 20033"/>
            </a:avLst>
          </a:prstGeom>
          <a:solidFill>
            <a:srgbClr val="00002E"/>
          </a:solidFill>
          <a:ln w="19050">
            <a:solidFill>
              <a:srgbClr val="F2B42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91657" y="2659559"/>
            <a:ext cx="4923310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Context Rot &amp; Drift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91657" y="3020913"/>
            <a:ext cx="4923310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Attention degrades significantly as long-context prompts increase in size.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183059" y="2465983"/>
            <a:ext cx="5310551" cy="1306909"/>
          </a:xfrm>
          <a:prstGeom prst="roundRect">
            <a:avLst>
              <a:gd name="adj" fmla="val 20033"/>
            </a:avLst>
          </a:prstGeom>
          <a:solidFill>
            <a:srgbClr val="00002E"/>
          </a:solidFill>
          <a:ln w="19050">
            <a:solidFill>
              <a:srgbClr val="D742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76630" y="2659559"/>
            <a:ext cx="4923409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Lack of Specialization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376630" y="3020913"/>
            <a:ext cx="4923409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Expecting one prompt to handle research, coding, testing, and writing leads to mediocrity.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98086" y="3947418"/>
            <a:ext cx="5310452" cy="1306909"/>
          </a:xfrm>
          <a:prstGeom prst="roundRect">
            <a:avLst>
              <a:gd name="adj" fmla="val 20033"/>
            </a:avLst>
          </a:prstGeom>
          <a:solidFill>
            <a:srgbClr val="00002E"/>
          </a:solidFill>
          <a:ln w="19050">
            <a:solidFill>
              <a:srgbClr val="DD78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1657" y="4140994"/>
            <a:ext cx="4923310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Cascading Hallucinations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91657" y="4502348"/>
            <a:ext cx="4923310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 single mistake early in a complex prompt compounds into severe output errors.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83059" y="3947418"/>
            <a:ext cx="5310551" cy="1306909"/>
          </a:xfrm>
          <a:prstGeom prst="roundRect">
            <a:avLst>
              <a:gd name="adj" fmla="val 20033"/>
            </a:avLst>
          </a:prstGeom>
          <a:solidFill>
            <a:srgbClr val="00002E"/>
          </a:solidFill>
          <a:ln w="19050">
            <a:solidFill>
              <a:srgbClr val="48A8E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6630" y="4140994"/>
            <a:ext cx="4923409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Infinite Loops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76630" y="4502348"/>
            <a:ext cx="4923409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Single models struggle to self-correct when stuck in logical deadlocks without external critique.</a:t>
            </a:r>
            <a:endParaRPr lang="en-US" sz="1350" dirty="0"/>
          </a:p>
        </p:txBody>
      </p:sp>
      <p:sp>
        <p:nvSpPr>
          <p:cNvPr id="15" name="Rectangle 14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9022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290439"/>
            <a:ext cx="10795524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The Anatomy of a Single AI Agent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98086" y="2152749"/>
            <a:ext cx="11405108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The core building block of any orchestrated system.</a:t>
            </a:r>
            <a:endParaRPr lang="en-US" sz="13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698086" y="2628305"/>
            <a:ext cx="436353" cy="4363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98086" y="3282851"/>
            <a:ext cx="5288624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Brain (Core LLM)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98086" y="3644205"/>
            <a:ext cx="5288624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General reasoning, comprehension, and decision making.</a:t>
            </a:r>
            <a:endParaRPr lang="en-US" sz="13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6204886" y="2628305"/>
            <a:ext cx="436353" cy="43636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204886" y="3282851"/>
            <a:ext cx="5288723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Memory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6204886" y="3644205"/>
            <a:ext cx="5288723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Short-term (conversation thread) and Long-term (Vector DBs / RAG).</a:t>
            </a:r>
            <a:endParaRPr lang="en-US" sz="13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98086" y="4272459"/>
            <a:ext cx="436353" cy="43636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98086" y="4927005"/>
            <a:ext cx="5288624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Tools &amp; Interfaces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698086" y="5288359"/>
            <a:ext cx="5288624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APIs, web searchers, Python interpreters, and SQL connectors.</a:t>
            </a:r>
            <a:endParaRPr lang="en-US" sz="13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6204886" y="4272459"/>
            <a:ext cx="436353" cy="43636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6204886" y="4927005"/>
            <a:ext cx="5288723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Planning Engine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6204886" y="5288359"/>
            <a:ext cx="5288723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Task decomposition, reflection, and self-correction loops.</a:t>
            </a:r>
            <a:endParaRPr lang="en-US" sz="1350" dirty="0"/>
          </a:p>
        </p:txBody>
      </p:sp>
      <p:sp>
        <p:nvSpPr>
          <p:cNvPr id="16" name="Rectangle 15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0947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8086" y="2645271"/>
            <a:ext cx="6223638" cy="10265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The Power of Multi-Agent Systems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698086" y="3933527"/>
            <a:ext cx="6833223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From Individual Agents to Collaborative AI Teams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5126450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517352"/>
            <a:ext cx="10795524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What is a Multi-Agent System (MAS)?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98086" y="2379663"/>
            <a:ext cx="11405108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Shifting from a single overworked generalist to a team of specialized experts.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72379" y="2855218"/>
            <a:ext cx="5436258" cy="2485330"/>
          </a:xfrm>
          <a:prstGeom prst="roundRect">
            <a:avLst>
              <a:gd name="adj" fmla="val 16855"/>
            </a:avLst>
          </a:prstGeom>
          <a:solidFill>
            <a:srgbClr val="1B1B27">
              <a:alpha val="7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746900" y="3029744"/>
            <a:ext cx="5087215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Role Specialization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6900" y="3460948"/>
            <a:ext cx="5087215" cy="837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Each agent operates with a hyper-focused persona and strict goal. Specialization eliminates the mediocrity that emerges when a single model is asked to do everything.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15115" y="3029744"/>
            <a:ext cx="5184844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Distributed Intelligence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315115" y="3460948"/>
            <a:ext cx="5184844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Complex problems are broken down into manageable atomic tasks. Each sub-task is routed to the agent best equipped to handle it.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315115" y="4193877"/>
            <a:ext cx="5184844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Peer Verification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315115" y="4625082"/>
            <a:ext cx="5184844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Agents critique and validate each other's work before finalizing outputs, dramatically reducing error propagation across the system.</a:t>
            </a:r>
            <a:endParaRPr lang="en-US" sz="1350" dirty="0"/>
          </a:p>
        </p:txBody>
      </p:sp>
      <p:sp>
        <p:nvSpPr>
          <p:cNvPr id="11" name="Rectangle 10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595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490835"/>
            <a:ext cx="10795524" cy="449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800" dirty="0" smtClean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Real Example: </a:t>
            </a:r>
            <a:r>
              <a:rPr lang="en-US" sz="2800" dirty="0" err="1">
                <a:solidFill>
                  <a:schemeClr val="bg1"/>
                </a:solidFill>
                <a:latin typeface="Nunito SemiBold" panose="020B0604020202020204" charset="0"/>
              </a:rPr>
              <a:t>CVera</a:t>
            </a:r>
            <a:r>
              <a:rPr lang="en-US" sz="2800" dirty="0">
                <a:solidFill>
                  <a:schemeClr val="bg1"/>
                </a:solidFill>
                <a:latin typeface="Nunito SemiBold" panose="020B0604020202020204" charset="0"/>
              </a:rPr>
              <a:t> Core Screening Agents (Governed Pipeline)</a:t>
            </a:r>
          </a:p>
          <a:p>
            <a:pPr marL="0" indent="0" algn="l">
              <a:lnSpc>
                <a:spcPct val="104000"/>
              </a:lnSpc>
              <a:buNone/>
            </a:pPr>
            <a:r>
              <a:rPr lang="en-US" sz="2800" dirty="0" smtClean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 </a:t>
            </a:r>
            <a:endParaRPr lang="en-US" sz="2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8305" y="1586508"/>
            <a:ext cx="8395085" cy="384224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315662" y="2460975"/>
            <a:ext cx="1576113" cy="8728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04000"/>
              </a:lnSpc>
            </a:pPr>
            <a:r>
              <a:rPr lang="en-US" dirty="0" smtClean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Interview</a:t>
            </a:r>
          </a:p>
          <a:p>
            <a:pPr algn="ctr">
              <a:lnSpc>
                <a:spcPct val="104000"/>
              </a:lnSpc>
            </a:pPr>
            <a:r>
              <a:rPr lang="en-US" dirty="0" smtClean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Probe</a:t>
            </a:r>
          </a:p>
          <a:p>
            <a:pPr algn="ctr">
              <a:lnSpc>
                <a:spcPct val="104000"/>
              </a:lnSpc>
            </a:pPr>
            <a:r>
              <a:rPr lang="en-US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G</a:t>
            </a:r>
            <a:r>
              <a:rPr lang="en-US" dirty="0" smtClean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enerator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326457" y="4104791"/>
            <a:ext cx="1576113" cy="171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98000"/>
              </a:lnSpc>
            </a:pPr>
            <a:r>
              <a:rPr lang="en-US" sz="15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Dynamically </a:t>
            </a:r>
            <a:r>
              <a:rPr lang="en-US" sz="1500" dirty="0" smtClean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generates </a:t>
            </a:r>
            <a:r>
              <a:rPr lang="en-US" sz="15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targeted technical and behavioral interview questions based on candidate CV gaps.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337934" y="2611832"/>
            <a:ext cx="1576113" cy="571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104000"/>
              </a:lnSpc>
            </a:pPr>
            <a:r>
              <a:rPr lang="en-US" dirty="0" smtClean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Rubric</a:t>
            </a:r>
          </a:p>
          <a:p>
            <a:pPr algn="ctr">
              <a:lnSpc>
                <a:spcPct val="104000"/>
              </a:lnSpc>
            </a:pPr>
            <a:r>
              <a:rPr lang="en-US" dirty="0" smtClean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Scorer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6340122" y="4104791"/>
            <a:ext cx="1576113" cy="22032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98000"/>
              </a:lnSpc>
            </a:pPr>
            <a:r>
              <a:rPr lang="en-US" sz="15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Calculates </a:t>
            </a:r>
            <a:r>
              <a:rPr lang="en-US" sz="1500" dirty="0" smtClean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scores </a:t>
            </a:r>
            <a:r>
              <a:rPr lang="en-US" sz="15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by aggregating extracted evidence against job requirements without LLM hallucination.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4364584" y="2611833"/>
            <a:ext cx="1576113" cy="571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104000"/>
              </a:lnSpc>
            </a:pPr>
            <a:r>
              <a:rPr lang="en-US" dirty="0" smtClean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Evidence Extractor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4373189" y="4104790"/>
            <a:ext cx="1576113" cy="19704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98000"/>
              </a:lnSpc>
            </a:pPr>
            <a:r>
              <a:rPr lang="en-US" sz="15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Extracts verifiable skill snippets, years of experience, and rubric matches with assigned confidence </a:t>
            </a:r>
            <a:r>
              <a:rPr lang="en-US" sz="1500" dirty="0" smtClean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scores.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2343388" y="2752814"/>
            <a:ext cx="1576113" cy="2891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104000"/>
              </a:lnSpc>
            </a:pPr>
            <a:r>
              <a:rPr lang="en-US" dirty="0" smtClean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Bias Guard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2343389" y="4111120"/>
            <a:ext cx="1578590" cy="24839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>
              <a:lnSpc>
                <a:spcPct val="98000"/>
              </a:lnSpc>
            </a:pPr>
            <a:r>
              <a:rPr lang="en-US" sz="15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Scans CV text and redacts protected attributes (age, gender, </a:t>
            </a:r>
            <a:r>
              <a:rPr lang="en-US" sz="1500" dirty="0" smtClean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nationality) </a:t>
            </a:r>
            <a:r>
              <a:rPr lang="en-US" sz="15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using deterministic regex rules prior to evaluation.</a:t>
            </a:r>
            <a:endParaRPr lang="en-US" sz="1500" dirty="0"/>
          </a:p>
        </p:txBody>
      </p:sp>
      <p:sp>
        <p:nvSpPr>
          <p:cNvPr id="16" name="Rectangle 15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1109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792163"/>
            <a:ext cx="10795524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Defining "Orchestration"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98086" y="1654473"/>
            <a:ext cx="11405108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The Orchestrator: The Project Manager of AI</a:t>
            </a:r>
          </a:p>
        </p:txBody>
      </p:sp>
      <p:sp>
        <p:nvSpPr>
          <p:cNvPr id="4" name="Text 2"/>
          <p:cNvSpPr/>
          <p:nvPr/>
        </p:nvSpPr>
        <p:spPr>
          <a:xfrm>
            <a:off x="959818" y="2326382"/>
            <a:ext cx="10533791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It doesn't execute every task itself—it understands the big picture, breaks down the goal, and assigns the right job to the right agent.</a:t>
            </a:r>
          </a:p>
        </p:txBody>
      </p:sp>
      <p:sp>
        <p:nvSpPr>
          <p:cNvPr id="5" name="Shape 3"/>
          <p:cNvSpPr/>
          <p:nvPr/>
        </p:nvSpPr>
        <p:spPr>
          <a:xfrm>
            <a:off x="698086" y="2130028"/>
            <a:ext cx="19050" cy="951111"/>
          </a:xfrm>
          <a:prstGeom prst="roundRect">
            <a:avLst>
              <a:gd name="adj" fmla="val 49999"/>
            </a:avLst>
          </a:prstGeom>
          <a:solidFill>
            <a:srgbClr val="F2B42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698086" y="3277493"/>
            <a:ext cx="5310452" cy="130690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7855" y="3471069"/>
            <a:ext cx="4847112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Goal Understanding</a:t>
            </a:r>
          </a:p>
        </p:txBody>
      </p:sp>
      <p:sp>
        <p:nvSpPr>
          <p:cNvPr id="8" name="Text 5"/>
          <p:cNvSpPr/>
          <p:nvPr/>
        </p:nvSpPr>
        <p:spPr>
          <a:xfrm>
            <a:off x="967855" y="3832422"/>
            <a:ext cx="4847112" cy="558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Translates complex user prompts into clear macro objectives </a:t>
            </a:r>
          </a:p>
          <a:p>
            <a:pPr>
              <a:lnSpc>
                <a:spcPct val="133000"/>
              </a:lnSpc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and core goals.</a:t>
            </a: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6183059" y="3277493"/>
            <a:ext cx="5310551" cy="130690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52828" y="3471069"/>
            <a:ext cx="484721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Task Planning</a:t>
            </a:r>
          </a:p>
        </p:txBody>
      </p:sp>
      <p:sp>
        <p:nvSpPr>
          <p:cNvPr id="11" name="Text 7"/>
          <p:cNvSpPr/>
          <p:nvPr/>
        </p:nvSpPr>
        <p:spPr>
          <a:xfrm>
            <a:off x="6452828" y="3832423"/>
            <a:ext cx="4847211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Draws a step-by-step roadmap and breaks down goals into actionable sub-tasks.</a:t>
            </a: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98086" y="4758928"/>
            <a:ext cx="5310452" cy="130690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7855" y="4952504"/>
            <a:ext cx="4847112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Smart Delegation</a:t>
            </a:r>
          </a:p>
        </p:txBody>
      </p:sp>
      <p:sp>
        <p:nvSpPr>
          <p:cNvPr id="14" name="Text 9"/>
          <p:cNvSpPr/>
          <p:nvPr/>
        </p:nvSpPr>
        <p:spPr>
          <a:xfrm>
            <a:off x="967855" y="5313859"/>
            <a:ext cx="4847112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Assigns each sub-task to the most specialized AI agent for optimal results.</a:t>
            </a:r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6183059" y="4758928"/>
            <a:ext cx="5310551" cy="1306909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452828" y="4952504"/>
            <a:ext cx="484721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Quality &amp; Delivery</a:t>
            </a:r>
          </a:p>
        </p:txBody>
      </p:sp>
      <p:sp>
        <p:nvSpPr>
          <p:cNvPr id="17" name="Text 11"/>
          <p:cNvSpPr/>
          <p:nvPr/>
        </p:nvSpPr>
        <p:spPr>
          <a:xfrm>
            <a:off x="6452828" y="5313859"/>
            <a:ext cx="4847211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Monitors execution, resolves conflicts, and merges output into the final response.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5651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099145"/>
            <a:ext cx="10795524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The 4 Pillars of Multi-Agent Systems</a:t>
            </a:r>
            <a:endParaRPr lang="en-US" sz="32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698086" y="1961455"/>
            <a:ext cx="5310452" cy="18114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248589" y="2092325"/>
            <a:ext cx="209446" cy="2617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891657" y="2659559"/>
            <a:ext cx="4923310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Roles &amp; Personas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91657" y="3020913"/>
            <a:ext cx="4923310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Explicit backstories, constraints, and operational domain boundaries assigned to each agent.</a:t>
            </a:r>
            <a:endParaRPr lang="en-US" sz="13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6183059" y="1961455"/>
            <a:ext cx="5310551" cy="181143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733562" y="2092325"/>
            <a:ext cx="209446" cy="2617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6376630" y="2659559"/>
            <a:ext cx="4923409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Task Decomposition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376630" y="3020913"/>
            <a:ext cx="4923409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Breaking macro business goals into clear, executable atomic tasks that can be distributed across the system.</a:t>
            </a:r>
            <a:endParaRPr lang="en-US" sz="13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98086" y="3947418"/>
            <a:ext cx="5310452" cy="1811437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248589" y="4078288"/>
            <a:ext cx="209446" cy="2617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891657" y="4645521"/>
            <a:ext cx="4923310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Communication Protocols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891657" y="5006876"/>
            <a:ext cx="4923310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Structured messaging schemas (JSON/Pydantic) governing how agents exchange information between steps.</a:t>
            </a:r>
            <a:endParaRPr lang="en-US" sz="135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6183059" y="3947418"/>
            <a:ext cx="5310551" cy="1811437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733562" y="4078288"/>
            <a:ext cx="209446" cy="26173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6376630" y="4645521"/>
            <a:ext cx="4923409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Shared </a:t>
            </a:r>
            <a:r>
              <a:rPr lang="en-US" sz="1600" dirty="0" smtClean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State &amp; Memory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6376630" y="5006876"/>
            <a:ext cx="4923409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Centralized memory registers accessible across the agent topology, ensuring coherent context throughout execution.</a:t>
            </a:r>
            <a:endParaRPr lang="en-US" sz="1350" dirty="0"/>
          </a:p>
        </p:txBody>
      </p:sp>
      <p:sp>
        <p:nvSpPr>
          <p:cNvPr id="19" name="Rectangle 18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1587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872555"/>
            <a:ext cx="10795524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Multi-Agent Collaboration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98086" y="2390973"/>
            <a:ext cx="10795524" cy="20534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64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How Do Agents Work Together?</a:t>
            </a:r>
            <a:endParaRPr lang="en-US" sz="6450" dirty="0"/>
          </a:p>
        </p:txBody>
      </p:sp>
      <p:sp>
        <p:nvSpPr>
          <p:cNvPr id="4" name="Rectangle 3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370211"/>
            <a:ext cx="10795524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Orchestration Patterns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98086" y="2232521"/>
            <a:ext cx="11405108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Multi-agent systems leverage various architectural patterns to coordinate agents effectively, moving beyond simple sequential flows.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72379" y="2708077"/>
            <a:ext cx="3566726" cy="2779713"/>
          </a:xfrm>
          <a:prstGeom prst="roundRect">
            <a:avLst>
              <a:gd name="adj" fmla="val 15070"/>
            </a:avLst>
          </a:prstGeom>
          <a:noFill/>
          <a:ln>
            <a:solidFill>
              <a:srgbClr val="F2B42D"/>
            </a:solidFill>
          </a:ln>
        </p:spPr>
      </p:sp>
      <p:sp>
        <p:nvSpPr>
          <p:cNvPr id="6" name="Text 3"/>
          <p:cNvSpPr/>
          <p:nvPr/>
        </p:nvSpPr>
        <p:spPr>
          <a:xfrm>
            <a:off x="746900" y="3789579"/>
            <a:ext cx="3217683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Hierarchical 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746900" y="4234036"/>
            <a:ext cx="3217683" cy="837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chemeClr val="bg1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Manager-Worker structure. A central Manager agent plans, delegates tasks to specialized workers, and verifies quality.</a:t>
            </a:r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8" name="Shape 5"/>
          <p:cNvSpPr/>
          <p:nvPr/>
        </p:nvSpPr>
        <p:spPr>
          <a:xfrm>
            <a:off x="4319876" y="2708077"/>
            <a:ext cx="3565634" cy="2779713"/>
          </a:xfrm>
          <a:prstGeom prst="roundRect">
            <a:avLst>
              <a:gd name="adj" fmla="val 15070"/>
            </a:avLst>
          </a:prstGeom>
          <a:noFill/>
          <a:ln>
            <a:solidFill>
              <a:srgbClr val="D7425E"/>
            </a:solidFill>
          </a:ln>
        </p:spPr>
      </p:sp>
      <p:sp>
        <p:nvSpPr>
          <p:cNvPr id="10" name="Text 6"/>
          <p:cNvSpPr/>
          <p:nvPr/>
        </p:nvSpPr>
        <p:spPr>
          <a:xfrm>
            <a:off x="4494398" y="3740863"/>
            <a:ext cx="321659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Pipeline 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1" name="Text 7"/>
          <p:cNvSpPr/>
          <p:nvPr/>
        </p:nvSpPr>
        <p:spPr>
          <a:xfrm>
            <a:off x="4494398" y="4172067"/>
            <a:ext cx="3216591" cy="837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chemeClr val="bg1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Sequential step-by-step flow. The output of one agent becomes the direct input for the next agent.</a:t>
            </a:r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66283" y="2708077"/>
            <a:ext cx="3565634" cy="2779713"/>
          </a:xfrm>
          <a:prstGeom prst="roundRect">
            <a:avLst>
              <a:gd name="adj" fmla="val 15070"/>
            </a:avLst>
          </a:prstGeom>
          <a:noFill/>
          <a:ln>
            <a:solidFill>
              <a:srgbClr val="DD785E"/>
            </a:solidFill>
          </a:ln>
        </p:spPr>
      </p:sp>
      <p:sp>
        <p:nvSpPr>
          <p:cNvPr id="14" name="Text 9"/>
          <p:cNvSpPr/>
          <p:nvPr/>
        </p:nvSpPr>
        <p:spPr>
          <a:xfrm>
            <a:off x="8240804" y="3716455"/>
            <a:ext cx="321659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chemeClr val="bg1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Collaborative Architecture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5" name="Text 10"/>
          <p:cNvSpPr/>
          <p:nvPr/>
        </p:nvSpPr>
        <p:spPr>
          <a:xfrm>
            <a:off x="8240804" y="4147660"/>
            <a:ext cx="3216591" cy="11168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chemeClr val="bg1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Peer-to-peer review loop. Agents communicate, critique, and refine work iteratively until quality thresholds are reached.</a:t>
            </a:r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16" name="Shape 2"/>
          <p:cNvSpPr/>
          <p:nvPr/>
        </p:nvSpPr>
        <p:spPr>
          <a:xfrm>
            <a:off x="781731" y="2975178"/>
            <a:ext cx="523564" cy="523577"/>
          </a:xfrm>
          <a:prstGeom prst="ellipse">
            <a:avLst/>
          </a:prstGeom>
          <a:solidFill>
            <a:srgbClr val="F2B42D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501" y="3007791"/>
            <a:ext cx="431888" cy="431899"/>
          </a:xfrm>
          <a:prstGeom prst="rect">
            <a:avLst/>
          </a:prstGeom>
        </p:spPr>
      </p:pic>
      <p:sp>
        <p:nvSpPr>
          <p:cNvPr id="17" name="Shape 6"/>
          <p:cNvSpPr/>
          <p:nvPr/>
        </p:nvSpPr>
        <p:spPr>
          <a:xfrm>
            <a:off x="4494398" y="2980833"/>
            <a:ext cx="523564" cy="523577"/>
          </a:xfrm>
          <a:prstGeom prst="ellipse">
            <a:avLst/>
          </a:prstGeom>
          <a:solidFill>
            <a:srgbClr val="D7425E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8220" y="3022797"/>
            <a:ext cx="439006" cy="439017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8204987" y="2911574"/>
            <a:ext cx="523564" cy="523577"/>
          </a:xfrm>
          <a:prstGeom prst="ellipse">
            <a:avLst/>
          </a:prstGeom>
          <a:solidFill>
            <a:srgbClr val="DD785E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55842" y="2972229"/>
            <a:ext cx="421854" cy="421865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479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487859"/>
            <a:ext cx="10795524" cy="4090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Orchestration Pattern 1: Hierarchical Architecture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698086" y="941189"/>
            <a:ext cx="10795524" cy="2453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Manager &amp; Workers Pattern for Complex Workflows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698086" y="5374977"/>
            <a:ext cx="10795524" cy="995164"/>
          </a:xfrm>
          <a:prstGeom prst="roundRect">
            <a:avLst>
              <a:gd name="adj" fmla="val 20965"/>
            </a:avLst>
          </a:prstGeom>
          <a:solidFill>
            <a:srgbClr val="785507"/>
          </a:solidFill>
          <a:ln/>
        </p:spPr>
      </p:sp>
      <p:sp>
        <p:nvSpPr>
          <p:cNvPr id="7" name="Text 3"/>
          <p:cNvSpPr/>
          <p:nvPr/>
        </p:nvSpPr>
        <p:spPr>
          <a:xfrm>
            <a:off x="1193373" y="5520531"/>
            <a:ext cx="10161234" cy="2044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When to Use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1193373" y="5835848"/>
            <a:ext cx="10161234" cy="3998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This pattern is best suited for complex, non-linear projects requiring central oversight and dynamic decision-making, such as software development, advanced research, or strategic planning initiatives.</a:t>
            </a:r>
            <a:endParaRPr lang="en-US" sz="1050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041" y="1208682"/>
            <a:ext cx="7365613" cy="414416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7562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523577"/>
            <a:ext cx="10795524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Orchestration Pattern 2: Pipeline Architecture</a:t>
            </a:r>
            <a:endParaRPr lang="en-US" sz="2850" dirty="0"/>
          </a:p>
        </p:txBody>
      </p:sp>
      <p:sp>
        <p:nvSpPr>
          <p:cNvPr id="10" name="Shape 7"/>
          <p:cNvSpPr/>
          <p:nvPr/>
        </p:nvSpPr>
        <p:spPr>
          <a:xfrm>
            <a:off x="586170" y="3740088"/>
            <a:ext cx="5431991" cy="1335286"/>
          </a:xfrm>
          <a:prstGeom prst="roundRect">
            <a:avLst>
              <a:gd name="adj" fmla="val 27941"/>
            </a:avLst>
          </a:prstGeom>
          <a:solidFill>
            <a:srgbClr val="1B1B27">
              <a:alpha val="75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741542" y="3878498"/>
            <a:ext cx="5121246" cy="2285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Key Rule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41542" y="4245409"/>
            <a:ext cx="5121246" cy="4702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100% dependency chain. Each agent strictly waits for the completed output of the preceding step before beginning its own task.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291800" y="3878498"/>
            <a:ext cx="5208160" cy="2285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When to Use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91800" y="4245409"/>
            <a:ext cx="5208160" cy="7054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Ideal for document creation, translation pipelines, automated content publishing, and any workflow where each stage has a clearly defined input and output contract.</a:t>
            </a:r>
            <a:endParaRPr lang="en-US" sz="1200" dirty="0"/>
          </a:p>
        </p:txBody>
      </p:sp>
      <p:sp>
        <p:nvSpPr>
          <p:cNvPr id="15" name="Rectangle 14"/>
          <p:cNvSpPr/>
          <p:nvPr/>
        </p:nvSpPr>
        <p:spPr>
          <a:xfrm>
            <a:off x="11015002" y="6556361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025" y="1470998"/>
            <a:ext cx="11029950" cy="1908313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36" y="1977077"/>
            <a:ext cx="1061230" cy="417808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81818" y="1977076"/>
            <a:ext cx="1194384" cy="417809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4925" y="1990512"/>
            <a:ext cx="1277442" cy="406829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1090" y="1990512"/>
            <a:ext cx="1309247" cy="416958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71751" y="2444831"/>
            <a:ext cx="95250" cy="15240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77348" y="2446756"/>
            <a:ext cx="95250" cy="15240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981598" y="2444831"/>
            <a:ext cx="95250" cy="152400"/>
          </a:xfrm>
          <a:prstGeom prst="rect">
            <a:avLst/>
          </a:prstGeom>
        </p:spPr>
      </p:pic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87015" y="2444831"/>
            <a:ext cx="95250" cy="152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81748" y="2605413"/>
            <a:ext cx="214620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400" b="1" dirty="0">
                <a:solidFill>
                  <a:srgbClr val="F8FAFC"/>
                </a:solidFill>
                <a:latin typeface="Nunito SemiBold" panose="020B0604020202020204" charset="0"/>
              </a:rPr>
              <a:t>CV Upload</a:t>
            </a:r>
            <a:endParaRPr sz="1400" b="1" i="0" u="none" dirty="0">
              <a:solidFill>
                <a:srgbClr val="F8FAFC"/>
              </a:solidFill>
              <a:latin typeface="Nunito SemiBold" panose="020B0604020202020204" charset="0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005907" y="2605413"/>
            <a:ext cx="214620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400" b="1" dirty="0" smtClean="0">
                <a:solidFill>
                  <a:srgbClr val="38BDF8"/>
                </a:solidFill>
                <a:latin typeface="Nunito SemiBold" panose="020B0604020202020204" charset="0"/>
              </a:rPr>
              <a:t>Bias Guard</a:t>
            </a:r>
            <a:endParaRPr sz="1400" b="1" i="0" u="none" dirty="0">
              <a:solidFill>
                <a:srgbClr val="38BDF8"/>
              </a:solidFill>
              <a:latin typeface="Nunito SemiBold" panose="020B0604020202020204" charset="0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937839" y="2605413"/>
            <a:ext cx="214620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400" b="1" dirty="0" smtClean="0">
                <a:solidFill>
                  <a:srgbClr val="10B981"/>
                </a:solidFill>
                <a:latin typeface="Nunito SemiBold" panose="020B0604020202020204" charset="0"/>
              </a:rPr>
              <a:t>Evidence Extractor</a:t>
            </a:r>
            <a:endParaRPr sz="1400" b="1" i="0" u="none" dirty="0">
              <a:solidFill>
                <a:srgbClr val="10B981"/>
              </a:solidFill>
              <a:latin typeface="Nunito SemiBold" panose="020B060402020202020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32610" y="2599156"/>
            <a:ext cx="214620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400" b="1" dirty="0" smtClean="0">
                <a:solidFill>
                  <a:srgbClr val="F59E0B"/>
                </a:solidFill>
                <a:latin typeface="Plus Jakarta Sans"/>
              </a:rPr>
              <a:t>Rubric Scorer</a:t>
            </a:r>
            <a:endParaRPr sz="1200" b="1" i="0" u="none" dirty="0">
              <a:solidFill>
                <a:srgbClr val="F59E0B"/>
              </a:solidFill>
              <a:latin typeface="Plus Jakarta San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949636" y="2605212"/>
            <a:ext cx="214620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400" b="1" dirty="0" smtClean="0">
                <a:solidFill>
                  <a:srgbClr val="6DA945"/>
                </a:solidFill>
                <a:latin typeface="Plus Jakarta Sans"/>
              </a:rPr>
              <a:t>Probe Generator</a:t>
            </a:r>
            <a:endParaRPr sz="1400" b="1" i="0" u="none" dirty="0">
              <a:solidFill>
                <a:srgbClr val="6DA945"/>
              </a:solidFill>
              <a:latin typeface="Plus Jakarta Sans"/>
            </a:endParaRP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73654" y="2438203"/>
            <a:ext cx="95250" cy="152400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360563" y="1977291"/>
            <a:ext cx="1309247" cy="416958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68533" y="1977076"/>
            <a:ext cx="1106907" cy="41179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851321" y="2611840"/>
            <a:ext cx="214620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1400" b="1" dirty="0">
                <a:solidFill>
                  <a:srgbClr val="F8FAFC"/>
                </a:solidFill>
                <a:latin typeface="Plus Jakarta Sans"/>
              </a:rPr>
              <a:t>Human Gate</a:t>
            </a:r>
            <a:endParaRPr sz="1400" b="1" i="0" u="none" dirty="0">
              <a:solidFill>
                <a:srgbClr val="F8FAFC"/>
              </a:solidFill>
              <a:latin typeface="Plus Jakarta Sans"/>
            </a:endParaRP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0189" y="5397572"/>
            <a:ext cx="11030786" cy="1217116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158728" y="5627987"/>
            <a:ext cx="4880610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lang="en-US" sz="1400" dirty="0">
                <a:solidFill>
                  <a:srgbClr val="38BDF8"/>
                </a:solidFill>
                <a:latin typeface="Nunito SemiBold" panose="020B0604020202020204" charset="0"/>
              </a:rPr>
              <a:t>Degraded Fallback Path</a:t>
            </a:r>
            <a:endParaRPr sz="1400" b="0" i="0" u="none" dirty="0">
              <a:solidFill>
                <a:srgbClr val="38BDF8"/>
              </a:solidFill>
              <a:latin typeface="Nunito SemiBold" panose="020B0604020202020204" charset="0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818314" y="5950022"/>
            <a:ext cx="10657126" cy="2028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1679"/>
              </a:lnSpc>
            </a:pPr>
            <a:r>
              <a:rPr lang="en-US" sz="1200" dirty="0">
                <a:solidFill>
                  <a:srgbClr val="CBD5E1"/>
                </a:solidFill>
                <a:latin typeface="PT Sans" panose="020B0604020202020204" charset="0"/>
              </a:rPr>
              <a:t>If a guard fails or a step encounters errors, the pipeline safely degrades to Plain RAG to maintain system stability and auditability.</a:t>
            </a:r>
            <a:endParaRPr sz="1200" b="0" i="0" u="none" dirty="0">
              <a:solidFill>
                <a:srgbClr val="CBD5E1"/>
              </a:solidFill>
              <a:latin typeface="PT Sans" panose="020B0604020202020204" charset="0"/>
            </a:endParaRPr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18314" y="5606502"/>
            <a:ext cx="247650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114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496590"/>
            <a:ext cx="10795524" cy="3770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Orchestration Pattern 3: Collaborative Architecture</a:t>
            </a:r>
            <a:endParaRPr lang="en-US" sz="2350" dirty="0"/>
          </a:p>
        </p:txBody>
      </p:sp>
      <p:sp>
        <p:nvSpPr>
          <p:cNvPr id="3" name="Text 1"/>
          <p:cNvSpPr/>
          <p:nvPr/>
        </p:nvSpPr>
        <p:spPr>
          <a:xfrm>
            <a:off x="698086" y="911225"/>
            <a:ext cx="10795524" cy="2262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Peer-to-Peer Review &amp; Feedback Loop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98086" y="2956421"/>
            <a:ext cx="3252309" cy="1885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Agent A (Writer)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98086" y="3201392"/>
            <a:ext cx="325230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16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Drafts initial content or code.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671" y="1278632"/>
            <a:ext cx="3778354" cy="3778448"/>
          </a:xfrm>
          <a:prstGeom prst="rect">
            <a:avLst/>
          </a:prstGeom>
        </p:spPr>
      </p:pic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697146" y="2844453"/>
            <a:ext cx="191785" cy="19179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77206" y="1963738"/>
            <a:ext cx="3316403" cy="1885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Agent B (Critic)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8177206" y="2208709"/>
            <a:ext cx="331640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Reviews content and identifies flaws/errors.</a:t>
            </a:r>
            <a:endParaRPr lang="en-US" sz="10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671" y="1278632"/>
            <a:ext cx="3778354" cy="3778448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848155" y="2057251"/>
            <a:ext cx="191785" cy="19179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177206" y="3949105"/>
            <a:ext cx="3316403" cy="1885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Agent C (Editor)</a:t>
            </a:r>
            <a:endParaRPr lang="en-US" sz="1150" dirty="0"/>
          </a:p>
        </p:txBody>
      </p:sp>
      <p:sp>
        <p:nvSpPr>
          <p:cNvPr id="13" name="Text 7"/>
          <p:cNvSpPr/>
          <p:nvPr/>
        </p:nvSpPr>
        <p:spPr>
          <a:xfrm>
            <a:off x="8177206" y="4194076"/>
            <a:ext cx="331640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Applies corrections and improves accuracy.</a:t>
            </a:r>
            <a:endParaRPr lang="en-US" sz="10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671" y="1278632"/>
            <a:ext cx="3778354" cy="3778448"/>
          </a:xfrm>
          <a:prstGeom prst="rect">
            <a:avLst/>
          </a:prstGeom>
        </p:spPr>
      </p:pic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xmlns="" r:embed="rId11"/>
              </a:ext>
            </a:extLst>
          </a:blip>
          <a:stretch>
            <a:fillRect/>
          </a:stretch>
        </p:blipFill>
        <p:spPr>
          <a:xfrm>
            <a:off x="6454365" y="4313684"/>
            <a:ext cx="191785" cy="191790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890268" y="5268813"/>
            <a:ext cx="112129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Execution Loop:</a:t>
            </a: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Continues iterating between agents until a defined Quality Score is achieved (e.g., ≥ 9/10).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698086" y="5162947"/>
            <a:ext cx="19050" cy="389533"/>
          </a:xfrm>
          <a:prstGeom prst="roundRect">
            <a:avLst>
              <a:gd name="adj" fmla="val 49999"/>
            </a:avLst>
          </a:prstGeom>
          <a:solidFill>
            <a:srgbClr val="F2B42D"/>
          </a:solidFill>
          <a:ln/>
        </p:spPr>
      </p:sp>
      <p:sp>
        <p:nvSpPr>
          <p:cNvPr id="18" name="Shape 10"/>
          <p:cNvSpPr/>
          <p:nvPr/>
        </p:nvSpPr>
        <p:spPr>
          <a:xfrm>
            <a:off x="698086" y="5658346"/>
            <a:ext cx="10795524" cy="702965"/>
          </a:xfrm>
          <a:prstGeom prst="roundRect">
            <a:avLst>
              <a:gd name="adj" fmla="val 27351"/>
            </a:avLst>
          </a:prstGeom>
          <a:solidFill>
            <a:srgbClr val="785507"/>
          </a:solidFill>
          <a:ln/>
        </p:spPr>
      </p:sp>
      <p:sp>
        <p:nvSpPr>
          <p:cNvPr id="20" name="Text 11"/>
          <p:cNvSpPr/>
          <p:nvPr/>
        </p:nvSpPr>
        <p:spPr>
          <a:xfrm>
            <a:off x="1154480" y="5784354"/>
            <a:ext cx="10211041" cy="1885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When to Use</a:t>
            </a:r>
            <a:endParaRPr lang="en-US" sz="1150" dirty="0"/>
          </a:p>
        </p:txBody>
      </p:sp>
      <p:sp>
        <p:nvSpPr>
          <p:cNvPr id="21" name="Text 12"/>
          <p:cNvSpPr/>
          <p:nvPr/>
        </p:nvSpPr>
        <p:spPr>
          <a:xfrm>
            <a:off x="1154480" y="6066929"/>
            <a:ext cx="108206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Ideal for high-precision requirements, such as security code audits, strict fact-checking workflows, or any scenario demanding iterative refinement to meet stringent quality thresholds.</a:t>
            </a:r>
            <a:endParaRPr lang="en-US" sz="1000" dirty="0"/>
          </a:p>
        </p:txBody>
      </p:sp>
      <p:sp>
        <p:nvSpPr>
          <p:cNvPr id="22" name="Rectangle 21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2028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831181"/>
            <a:ext cx="10795524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Memory Management in Orchestration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59818" y="3391595"/>
            <a:ext cx="3220262" cy="174526"/>
          </a:xfrm>
          <a:prstGeom prst="roundRect">
            <a:avLst>
              <a:gd name="adj" fmla="val 49999"/>
            </a:avLst>
          </a:prstGeom>
          <a:solidFill>
            <a:srgbClr val="00002E"/>
          </a:solidFill>
          <a:ln w="19050">
            <a:solidFill>
              <a:srgbClr val="F2B42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72607" y="3915172"/>
            <a:ext cx="313305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Entity Memory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72607" y="4276527"/>
            <a:ext cx="3133051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Tracks specific names, concepts, and system-defined project variables.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616434" y="3129756"/>
            <a:ext cx="3220362" cy="174526"/>
          </a:xfrm>
          <a:prstGeom prst="roundRect">
            <a:avLst>
              <a:gd name="adj" fmla="val 49999"/>
            </a:avLst>
          </a:prstGeom>
          <a:solidFill>
            <a:srgbClr val="00002E"/>
          </a:solidFill>
          <a:ln w="19050">
            <a:solidFill>
              <a:srgbClr val="D742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9223" y="3653334"/>
            <a:ext cx="313315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Long-Term Memory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29223" y="4014688"/>
            <a:ext cx="3133151" cy="837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Vector DBs (ChromaDB, Pinecone) storing past user preferences and historical interactions.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73148" y="2868017"/>
            <a:ext cx="3220362" cy="174526"/>
          </a:xfrm>
          <a:prstGeom prst="roundRect">
            <a:avLst>
              <a:gd name="adj" fmla="val 49999"/>
            </a:avLst>
          </a:prstGeom>
          <a:solidFill>
            <a:srgbClr val="00002E"/>
          </a:solidFill>
          <a:ln w="19050">
            <a:solidFill>
              <a:srgbClr val="DD78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85937" y="3391595"/>
            <a:ext cx="313315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Short-Term Memory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85937" y="3752949"/>
            <a:ext cx="3133151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Active conversation thread context and immediate execution prompt.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98086" y="3217019"/>
            <a:ext cx="523564" cy="523577"/>
          </a:xfrm>
          <a:prstGeom prst="ellipse">
            <a:avLst/>
          </a:prstGeom>
          <a:solidFill>
            <a:srgbClr val="00002E"/>
          </a:solidFill>
          <a:ln w="19050">
            <a:solidFill>
              <a:srgbClr val="F2B42D"/>
            </a:solidFill>
            <a:prstDash val="solid"/>
          </a:ln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828952" y="3347988"/>
            <a:ext cx="261733" cy="261739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354701" y="2955181"/>
            <a:ext cx="523564" cy="523577"/>
          </a:xfrm>
          <a:prstGeom prst="ellipse">
            <a:avLst/>
          </a:prstGeom>
          <a:solidFill>
            <a:srgbClr val="00002E"/>
          </a:solidFill>
          <a:ln w="19050">
            <a:solidFill>
              <a:srgbClr val="D7425E"/>
            </a:solidFill>
            <a:prstDash val="solid"/>
          </a:ln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4485567" y="3086150"/>
            <a:ext cx="261733" cy="261739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011416" y="2693442"/>
            <a:ext cx="523564" cy="523577"/>
          </a:xfrm>
          <a:prstGeom prst="ellipse">
            <a:avLst/>
          </a:prstGeom>
          <a:solidFill>
            <a:srgbClr val="00002E"/>
          </a:solidFill>
          <a:ln w="19050">
            <a:solidFill>
              <a:srgbClr val="DD785E"/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8142282" y="2824411"/>
            <a:ext cx="261733" cy="26173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19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668764"/>
            <a:ext cx="10795524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Human-in-the-Loop (HITL) Gates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98086" y="1361796"/>
            <a:ext cx="11405108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3000"/>
              </a:lnSpc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AI Drafts — Humans Decide</a:t>
            </a:r>
            <a:endParaRPr lang="en-US" sz="1350" dirty="0"/>
          </a:p>
        </p:txBody>
      </p:sp>
      <p:sp>
        <p:nvSpPr>
          <p:cNvPr id="16" name="Rectangle 15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hape 1"/>
          <p:cNvSpPr/>
          <p:nvPr/>
        </p:nvSpPr>
        <p:spPr>
          <a:xfrm>
            <a:off x="704714" y="2031696"/>
            <a:ext cx="5229606" cy="1973270"/>
          </a:xfrm>
          <a:prstGeom prst="roundRect">
            <a:avLst>
              <a:gd name="adj" fmla="val 11462"/>
            </a:avLst>
          </a:prstGeom>
          <a:solidFill>
            <a:srgbClr val="00002E"/>
          </a:solidFill>
          <a:ln w="19050">
            <a:solidFill>
              <a:srgbClr val="FFA726"/>
            </a:solidFill>
            <a:prstDash val="solid"/>
          </a:ln>
        </p:spPr>
      </p:sp>
      <p:sp>
        <p:nvSpPr>
          <p:cNvPr id="20" name="Text 3"/>
          <p:cNvSpPr/>
          <p:nvPr/>
        </p:nvSpPr>
        <p:spPr>
          <a:xfrm>
            <a:off x="891657" y="2947070"/>
            <a:ext cx="3094952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Two-Stage Human Review</a:t>
            </a:r>
            <a:endParaRPr lang="en-US" sz="1600" dirty="0"/>
          </a:p>
        </p:txBody>
      </p:sp>
      <p:sp>
        <p:nvSpPr>
          <p:cNvPr id="21" name="Text 4"/>
          <p:cNvSpPr/>
          <p:nvPr/>
        </p:nvSpPr>
        <p:spPr>
          <a:xfrm>
            <a:off x="891656" y="3308425"/>
            <a:ext cx="4286197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Role-gated triage between Recruiter and Hiring Manager</a:t>
            </a:r>
            <a:endParaRPr lang="en-US" sz="1350" dirty="0"/>
          </a:p>
        </p:txBody>
      </p:sp>
      <p:sp>
        <p:nvSpPr>
          <p:cNvPr id="22" name="Shape 5"/>
          <p:cNvSpPr/>
          <p:nvPr/>
        </p:nvSpPr>
        <p:spPr>
          <a:xfrm>
            <a:off x="6260806" y="4273451"/>
            <a:ext cx="5232804" cy="1974951"/>
          </a:xfrm>
          <a:prstGeom prst="roundRect">
            <a:avLst>
              <a:gd name="adj" fmla="val 11462"/>
            </a:avLst>
          </a:prstGeom>
          <a:solidFill>
            <a:srgbClr val="00002E"/>
          </a:solidFill>
          <a:ln w="19050">
            <a:solidFill>
              <a:srgbClr val="FFCA28"/>
            </a:solidFill>
            <a:prstDash val="solid"/>
          </a:ln>
        </p:spPr>
      </p:sp>
      <p:sp>
        <p:nvSpPr>
          <p:cNvPr id="25" name="Text 7"/>
          <p:cNvSpPr/>
          <p:nvPr/>
        </p:nvSpPr>
        <p:spPr>
          <a:xfrm>
            <a:off x="6453132" y="5165130"/>
            <a:ext cx="309505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SLA &amp; Escalation</a:t>
            </a:r>
            <a:endParaRPr lang="en-US" sz="1600" dirty="0"/>
          </a:p>
        </p:txBody>
      </p:sp>
      <p:sp>
        <p:nvSpPr>
          <p:cNvPr id="26" name="Text 8"/>
          <p:cNvSpPr/>
          <p:nvPr/>
        </p:nvSpPr>
        <p:spPr>
          <a:xfrm>
            <a:off x="6453132" y="5526485"/>
            <a:ext cx="4903981" cy="837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Automated background scheduler escalates overdue review tasks</a:t>
            </a:r>
            <a:endParaRPr lang="en-US" sz="1350" dirty="0"/>
          </a:p>
        </p:txBody>
      </p:sp>
      <p:sp>
        <p:nvSpPr>
          <p:cNvPr id="27" name="Shape 9"/>
          <p:cNvSpPr/>
          <p:nvPr/>
        </p:nvSpPr>
        <p:spPr>
          <a:xfrm>
            <a:off x="6260806" y="2037771"/>
            <a:ext cx="5232804" cy="1973270"/>
          </a:xfrm>
          <a:prstGeom prst="roundRect">
            <a:avLst>
              <a:gd name="adj" fmla="val 11462"/>
            </a:avLst>
          </a:prstGeom>
          <a:solidFill>
            <a:srgbClr val="00002E"/>
          </a:solidFill>
          <a:ln w="19050">
            <a:solidFill>
              <a:srgbClr val="FF8A65"/>
            </a:solidFill>
            <a:prstDash val="solid"/>
          </a:ln>
        </p:spPr>
      </p:sp>
      <p:sp>
        <p:nvSpPr>
          <p:cNvPr id="30" name="Text 11"/>
          <p:cNvSpPr/>
          <p:nvPr/>
        </p:nvSpPr>
        <p:spPr>
          <a:xfrm>
            <a:off x="6489820" y="2947070"/>
            <a:ext cx="309505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Code-Enforced Gate</a:t>
            </a:r>
            <a:endParaRPr lang="en-US" sz="1600" dirty="0"/>
          </a:p>
        </p:txBody>
      </p:sp>
      <p:sp>
        <p:nvSpPr>
          <p:cNvPr id="31" name="Text 12"/>
          <p:cNvSpPr/>
          <p:nvPr/>
        </p:nvSpPr>
        <p:spPr>
          <a:xfrm>
            <a:off x="6489820" y="3308425"/>
            <a:ext cx="4867293" cy="837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Candidate status stays in </a:t>
            </a:r>
            <a:r>
              <a:rPr lang="en-US" sz="1350" dirty="0" err="1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in_review_queue</a:t>
            </a: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until human sign-off in code.</a:t>
            </a:r>
            <a:endParaRPr lang="en-US" sz="1350" dirty="0"/>
          </a:p>
        </p:txBody>
      </p:sp>
      <p:sp>
        <p:nvSpPr>
          <p:cNvPr id="32" name="Shape 1"/>
          <p:cNvSpPr/>
          <p:nvPr/>
        </p:nvSpPr>
        <p:spPr>
          <a:xfrm>
            <a:off x="704714" y="4275132"/>
            <a:ext cx="5229606" cy="1973270"/>
          </a:xfrm>
          <a:prstGeom prst="roundRect">
            <a:avLst>
              <a:gd name="adj" fmla="val 11462"/>
            </a:avLst>
          </a:prstGeom>
          <a:solidFill>
            <a:srgbClr val="00002E"/>
          </a:solidFill>
          <a:ln w="19050">
            <a:solidFill>
              <a:srgbClr val="D7425E"/>
            </a:solidFill>
            <a:prstDash val="solid"/>
          </a:ln>
        </p:spPr>
      </p:sp>
      <p:sp>
        <p:nvSpPr>
          <p:cNvPr id="35" name="Text 3"/>
          <p:cNvSpPr/>
          <p:nvPr/>
        </p:nvSpPr>
        <p:spPr>
          <a:xfrm>
            <a:off x="898285" y="5166811"/>
            <a:ext cx="3094952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Audit Trail &amp; Rationale</a:t>
            </a:r>
            <a:endParaRPr lang="en-US" sz="1600" dirty="0"/>
          </a:p>
        </p:txBody>
      </p:sp>
      <p:sp>
        <p:nvSpPr>
          <p:cNvPr id="36" name="Text 4"/>
          <p:cNvSpPr/>
          <p:nvPr/>
        </p:nvSpPr>
        <p:spPr>
          <a:xfrm>
            <a:off x="898284" y="5528166"/>
            <a:ext cx="5036035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Mandatory reason required for rejection decisions and bulk actions.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72206" y="2221581"/>
            <a:ext cx="519268" cy="539696"/>
          </a:xfrm>
          <a:prstGeom prst="ellipse">
            <a:avLst/>
          </a:prstGeom>
          <a:solidFill>
            <a:srgbClr val="00002E"/>
          </a:solidFill>
          <a:ln w="19050">
            <a:solidFill>
              <a:srgbClr val="F2B42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78803" y="4462937"/>
            <a:ext cx="539171" cy="551213"/>
          </a:xfrm>
          <a:prstGeom prst="ellipse">
            <a:avLst/>
          </a:prstGeom>
          <a:solidFill>
            <a:srgbClr val="00002E"/>
          </a:solidFill>
          <a:ln w="19050">
            <a:solidFill>
              <a:srgbClr val="D7425E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3580" y="2336972"/>
            <a:ext cx="319575" cy="319583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453132" y="2251622"/>
            <a:ext cx="540393" cy="550993"/>
          </a:xfrm>
          <a:prstGeom prst="ellipse">
            <a:avLst/>
          </a:prstGeom>
          <a:solidFill>
            <a:srgbClr val="00002E"/>
          </a:solidFill>
          <a:ln w="19050">
            <a:solidFill>
              <a:srgbClr val="DD785E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72010" y="2360775"/>
            <a:ext cx="332680" cy="332688"/>
          </a:xfrm>
          <a:prstGeom prst="rect">
            <a:avLst/>
          </a:prstGeom>
        </p:spPr>
      </p:pic>
      <p:sp>
        <p:nvSpPr>
          <p:cNvPr id="37" name="Shape 2"/>
          <p:cNvSpPr/>
          <p:nvPr/>
        </p:nvSpPr>
        <p:spPr>
          <a:xfrm>
            <a:off x="6442916" y="4441617"/>
            <a:ext cx="536714" cy="546030"/>
          </a:xfrm>
          <a:prstGeom prst="ellipse">
            <a:avLst/>
          </a:prstGeom>
          <a:solidFill>
            <a:srgbClr val="00002E"/>
          </a:solidFill>
          <a:ln w="19050">
            <a:solidFill>
              <a:srgbClr val="FFCA28"/>
            </a:solidFill>
            <a:prstDash val="solid"/>
          </a:ln>
        </p:spPr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8">
            <a:lum bright="70000" contrast="-70000"/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6597095" y="4610994"/>
            <a:ext cx="235539" cy="235545"/>
          </a:xfrm>
          <a:prstGeom prst="rect">
            <a:avLst/>
          </a:prstGeom>
        </p:spPr>
      </p:pic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10">
            <a:lum bright="70000" contrast="-70000"/>
            <a:extLst>
              <a:ext uri="{96DAC541-7B7A-43D3-8B79-37D633B846F1}">
                <asvg:svgBlip xmlns=""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97230" y="4587627"/>
            <a:ext cx="298661" cy="298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14923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855688"/>
            <a:ext cx="10795524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Popular Multi-Agent Frameworks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98086" y="2717998"/>
            <a:ext cx="3482094" cy="2284214"/>
          </a:xfrm>
          <a:prstGeom prst="roundRect">
            <a:avLst>
              <a:gd name="adj" fmla="val 11462"/>
            </a:avLst>
          </a:prstGeom>
          <a:solidFill>
            <a:srgbClr val="00002E"/>
          </a:solidFill>
          <a:ln w="19050">
            <a:solidFill>
              <a:srgbClr val="F2B42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1657" y="2911574"/>
            <a:ext cx="523564" cy="523577"/>
          </a:xfrm>
          <a:prstGeom prst="ellipse">
            <a:avLst/>
          </a:prstGeom>
          <a:solidFill>
            <a:srgbClr val="F2B42D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1035619" y="3055541"/>
            <a:ext cx="235539" cy="2355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91657" y="3609677"/>
            <a:ext cx="3094952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CrewAI: Role-Based &amp; Intuitive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91657" y="3971032"/>
            <a:ext cx="3094952" cy="837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Best for beginner to intermediate developers building role-specialized agent teams.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54701" y="2717998"/>
            <a:ext cx="3482193" cy="2284214"/>
          </a:xfrm>
          <a:prstGeom prst="roundRect">
            <a:avLst>
              <a:gd name="adj" fmla="val 11462"/>
            </a:avLst>
          </a:prstGeom>
          <a:solidFill>
            <a:srgbClr val="00002E"/>
          </a:solidFill>
          <a:ln w="19050">
            <a:solidFill>
              <a:srgbClr val="D7425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48272" y="2911574"/>
            <a:ext cx="523564" cy="523577"/>
          </a:xfrm>
          <a:prstGeom prst="ellipse">
            <a:avLst/>
          </a:prstGeom>
          <a:solidFill>
            <a:srgbClr val="D7425E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4692235" y="3055541"/>
            <a:ext cx="235539" cy="23554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48272" y="3609677"/>
            <a:ext cx="309505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LangGraph: Production-Ready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48272" y="3971032"/>
            <a:ext cx="3095051" cy="837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Cyclical graph-based framework built for enterprise-grade control and state persistence.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8011416" y="2717998"/>
            <a:ext cx="3482193" cy="2284214"/>
          </a:xfrm>
          <a:prstGeom prst="roundRect">
            <a:avLst>
              <a:gd name="adj" fmla="val 11462"/>
            </a:avLst>
          </a:prstGeom>
          <a:solidFill>
            <a:srgbClr val="00002E"/>
          </a:solidFill>
          <a:ln w="19050">
            <a:solidFill>
              <a:srgbClr val="DD785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04987" y="2911574"/>
            <a:ext cx="523564" cy="523577"/>
          </a:xfrm>
          <a:prstGeom prst="ellipse">
            <a:avLst/>
          </a:prstGeom>
          <a:solidFill>
            <a:srgbClr val="DD785E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8348950" y="3055541"/>
            <a:ext cx="235539" cy="23554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04987" y="3609677"/>
            <a:ext cx="3095051" cy="5133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Microsoft AutoGen: Conversational &amp; Code-Driven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204987" y="4227711"/>
            <a:ext cx="3095051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Optimized for multi-agent dialogs and automated code execution pipelines.</a:t>
            </a:r>
            <a:endParaRPr lang="en-US" sz="1350" dirty="0"/>
          </a:p>
        </p:txBody>
      </p:sp>
      <p:sp>
        <p:nvSpPr>
          <p:cNvPr id="18" name="Rectangle 17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3740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587130"/>
            <a:ext cx="10795524" cy="4170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2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Framework Comparison: Multi-Agent Syntax in </a:t>
            </a:r>
            <a:r>
              <a:rPr lang="en-US" sz="2600" dirty="0" err="1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CrewAI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95992" y="1442029"/>
            <a:ext cx="5340982" cy="4932268"/>
          </a:xfrm>
          <a:prstGeom prst="roundRect">
            <a:avLst>
              <a:gd name="adj" fmla="val 6415"/>
            </a:avLst>
          </a:prstGeom>
          <a:solidFill>
            <a:srgbClr val="1B1B27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7772" y="1571609"/>
            <a:ext cx="5020774" cy="4691355"/>
          </a:xfrm>
          <a:prstGeom prst="roundRect">
            <a:avLst>
              <a:gd name="adj" fmla="val 4215"/>
            </a:avLst>
          </a:prstGeom>
          <a:solidFill>
            <a:srgbClr val="282834"/>
          </a:solidFill>
          <a:ln/>
        </p:spPr>
      </p:sp>
      <p:sp>
        <p:nvSpPr>
          <p:cNvPr id="5" name="Text 3"/>
          <p:cNvSpPr/>
          <p:nvPr/>
        </p:nvSpPr>
        <p:spPr>
          <a:xfrm>
            <a:off x="907928" y="1713392"/>
            <a:ext cx="4747811" cy="44277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from</a:t>
            </a: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FDFFF1"/>
                </a:solidFill>
                <a:latin typeface="Consolas" panose="020B0609020204030204" pitchFamily="49" charset="0"/>
              </a:rPr>
              <a:t>crewai</a:t>
            </a: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import</a:t>
            </a: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 Agent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 Task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smtClean="0">
                <a:solidFill>
                  <a:srgbClr val="FDFFF1"/>
                </a:solidFill>
                <a:latin typeface="Consolas" panose="020B0609020204030204" pitchFamily="49" charset="0"/>
              </a:rPr>
              <a:t>Crew</a:t>
            </a:r>
          </a:p>
          <a:p>
            <a:r>
              <a:rPr lang="en-US" sz="1200" dirty="0" smtClean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 smtClean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 err="1" smtClean="0">
                <a:solidFill>
                  <a:srgbClr val="FDFFF1"/>
                </a:solidFill>
                <a:latin typeface="Consolas" panose="020B0609020204030204" pitchFamily="49" charset="0"/>
              </a:rPr>
              <a:t>bias_checker</a:t>
            </a:r>
            <a:r>
              <a:rPr lang="en-US" sz="1200" dirty="0" smtClean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smtClean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 smtClean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smtClean="0">
                <a:solidFill>
                  <a:srgbClr val="A6E22E"/>
                </a:solidFill>
                <a:latin typeface="Consolas" panose="020B0609020204030204" pitchFamily="49" charset="0"/>
              </a:rPr>
              <a:t>Agent</a:t>
            </a:r>
            <a:r>
              <a:rPr lang="en-US" sz="1200" dirty="0" smtClean="0">
                <a:solidFill>
                  <a:srgbClr val="919288"/>
                </a:solidFill>
                <a:latin typeface="Consolas" panose="020B0609020204030204" pitchFamily="49" charset="0"/>
              </a:rPr>
              <a:t>(</a:t>
            </a:r>
            <a:endParaRPr lang="en-US" sz="1200" dirty="0" smtClean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    </a:t>
            </a:r>
            <a:r>
              <a:rPr lang="en-US" sz="1200" i="1" dirty="0">
                <a:solidFill>
                  <a:srgbClr val="FD971F"/>
                </a:solidFill>
                <a:latin typeface="Consolas" panose="020B0609020204030204" pitchFamily="49" charset="0"/>
              </a:rPr>
              <a:t>role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>
                <a:solidFill>
                  <a:srgbClr val="E6DB74"/>
                </a:solidFill>
                <a:latin typeface="Consolas" panose="020B0609020204030204" pitchFamily="49" charset="0"/>
              </a:rPr>
              <a:t>Bias Checker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",</a:t>
            </a:r>
            <a:endParaRPr lang="en-US" sz="12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    </a:t>
            </a:r>
            <a:r>
              <a:rPr lang="en-US" sz="1200" i="1" dirty="0">
                <a:solidFill>
                  <a:srgbClr val="FD971F"/>
                </a:solidFill>
                <a:latin typeface="Consolas" panose="020B0609020204030204" pitchFamily="49" charset="0"/>
              </a:rPr>
              <a:t>goal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>
                <a:solidFill>
                  <a:srgbClr val="E6DB74"/>
                </a:solidFill>
                <a:latin typeface="Consolas" panose="020B0609020204030204" pitchFamily="49" charset="0"/>
              </a:rPr>
              <a:t>Redact protected attributes before any scoring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",</a:t>
            </a:r>
            <a:endParaRPr lang="en-US" sz="12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    </a:t>
            </a:r>
            <a:r>
              <a:rPr lang="en-US" sz="1200" i="1" dirty="0">
                <a:solidFill>
                  <a:srgbClr val="FD971F"/>
                </a:solidFill>
                <a:latin typeface="Consolas" panose="020B0609020204030204" pitchFamily="49" charset="0"/>
              </a:rPr>
              <a:t>backstory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>
                <a:solidFill>
                  <a:srgbClr val="E6DB74"/>
                </a:solidFill>
                <a:latin typeface="Consolas" panose="020B0609020204030204" pitchFamily="49" charset="0"/>
              </a:rPr>
              <a:t>Compliance auditor for fair, auditable hiring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",</a:t>
            </a:r>
            <a:endParaRPr lang="en-US" sz="12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 err="1">
                <a:solidFill>
                  <a:srgbClr val="FDFFF1"/>
                </a:solidFill>
                <a:latin typeface="Consolas" panose="020B0609020204030204" pitchFamily="49" charset="0"/>
              </a:rPr>
              <a:t>cv_evaluator</a:t>
            </a: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6E22E"/>
                </a:solidFill>
                <a:latin typeface="Consolas" panose="020B0609020204030204" pitchFamily="49" charset="0"/>
              </a:rPr>
              <a:t>Agent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(</a:t>
            </a:r>
            <a:endParaRPr lang="en-US" sz="12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    </a:t>
            </a:r>
            <a:r>
              <a:rPr lang="en-US" sz="1200" i="1" dirty="0">
                <a:solidFill>
                  <a:srgbClr val="FD971F"/>
                </a:solidFill>
                <a:latin typeface="Consolas" panose="020B0609020204030204" pitchFamily="49" charset="0"/>
              </a:rPr>
              <a:t>role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>
                <a:solidFill>
                  <a:srgbClr val="E6DB74"/>
                </a:solidFill>
                <a:latin typeface="Consolas" panose="020B0609020204030204" pitchFamily="49" charset="0"/>
              </a:rPr>
              <a:t>CV Evaluator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",</a:t>
            </a:r>
            <a:endParaRPr lang="en-US" sz="12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    </a:t>
            </a:r>
            <a:r>
              <a:rPr lang="en-US" sz="1200" i="1" dirty="0">
                <a:solidFill>
                  <a:srgbClr val="FD971F"/>
                </a:solidFill>
                <a:latin typeface="Consolas" panose="020B0609020204030204" pitchFamily="49" charset="0"/>
              </a:rPr>
              <a:t>goal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>
                <a:solidFill>
                  <a:srgbClr val="E6DB74"/>
                </a:solidFill>
                <a:latin typeface="Consolas" panose="020B0609020204030204" pitchFamily="49" charset="0"/>
              </a:rPr>
              <a:t>Score a CV against the job rubric using cited evidence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",</a:t>
            </a:r>
            <a:endParaRPr lang="en-US" sz="12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    </a:t>
            </a:r>
            <a:r>
              <a:rPr lang="en-US" sz="1200" i="1" dirty="0">
                <a:solidFill>
                  <a:srgbClr val="FD971F"/>
                </a:solidFill>
                <a:latin typeface="Consolas" panose="020B0609020204030204" pitchFamily="49" charset="0"/>
              </a:rPr>
              <a:t>backstory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>
                <a:solidFill>
                  <a:srgbClr val="E6DB74"/>
                </a:solidFill>
                <a:latin typeface="Consolas" panose="020B0609020204030204" pitchFamily="49" charset="0"/>
              </a:rPr>
              <a:t>Senior technical recruiter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",</a:t>
            </a:r>
            <a:endParaRPr lang="en-US" sz="12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endParaRPr lang="en-US" sz="1200" b="0" dirty="0">
              <a:solidFill>
                <a:srgbClr val="FDFFF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Shape 1"/>
          <p:cNvSpPr/>
          <p:nvPr/>
        </p:nvSpPr>
        <p:spPr>
          <a:xfrm>
            <a:off x="6181787" y="1448657"/>
            <a:ext cx="5340982" cy="4925640"/>
          </a:xfrm>
          <a:prstGeom prst="roundRect">
            <a:avLst>
              <a:gd name="adj" fmla="val 6415"/>
            </a:avLst>
          </a:prstGeom>
          <a:solidFill>
            <a:srgbClr val="1B1B27">
              <a:alpha val="75000"/>
            </a:srgbClr>
          </a:solidFill>
          <a:ln/>
        </p:spPr>
      </p:sp>
      <p:sp>
        <p:nvSpPr>
          <p:cNvPr id="13" name="Shape 2"/>
          <p:cNvSpPr/>
          <p:nvPr/>
        </p:nvSpPr>
        <p:spPr>
          <a:xfrm>
            <a:off x="6323567" y="1578237"/>
            <a:ext cx="5020774" cy="4685051"/>
          </a:xfrm>
          <a:prstGeom prst="roundRect">
            <a:avLst>
              <a:gd name="adj" fmla="val 4215"/>
            </a:avLst>
          </a:prstGeom>
          <a:solidFill>
            <a:srgbClr val="282834"/>
          </a:solidFill>
          <a:ln/>
        </p:spPr>
      </p:sp>
      <p:sp>
        <p:nvSpPr>
          <p:cNvPr id="14" name="Text 3"/>
          <p:cNvSpPr/>
          <p:nvPr/>
        </p:nvSpPr>
        <p:spPr>
          <a:xfrm>
            <a:off x="6493723" y="1720020"/>
            <a:ext cx="4747811" cy="44218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en-US" sz="1200" dirty="0" smtClean="0">
                <a:solidFill>
                  <a:srgbClr val="FDFFF1"/>
                </a:solidFill>
                <a:latin typeface="Consolas" panose="020B0609020204030204" pitchFamily="49" charset="0"/>
              </a:rPr>
              <a:t>redact 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6E22E"/>
                </a:solidFill>
                <a:latin typeface="Consolas" panose="020B0609020204030204" pitchFamily="49" charset="0"/>
              </a:rPr>
              <a:t>Task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(</a:t>
            </a:r>
            <a:r>
              <a:rPr lang="en-US" sz="1200" i="1" dirty="0">
                <a:solidFill>
                  <a:srgbClr val="FD971F"/>
                </a:solidFill>
                <a:latin typeface="Consolas" panose="020B0609020204030204" pitchFamily="49" charset="0"/>
              </a:rPr>
              <a:t>description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>
                <a:solidFill>
                  <a:srgbClr val="E6DB74"/>
                </a:solidFill>
                <a:latin typeface="Consolas" panose="020B0609020204030204" pitchFamily="49" charset="0"/>
              </a:rPr>
              <a:t>Extract &amp; redact CV evidence; log findings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",</a:t>
            </a:r>
            <a:endParaRPr lang="en-US" sz="12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              </a:t>
            </a:r>
            <a:r>
              <a:rPr lang="en-US" sz="1200" i="1" dirty="0">
                <a:solidFill>
                  <a:srgbClr val="FD971F"/>
                </a:solidFill>
                <a:latin typeface="Consolas" panose="020B0609020204030204" pitchFamily="49" charset="0"/>
              </a:rPr>
              <a:t>agent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 err="1">
                <a:solidFill>
                  <a:srgbClr val="FDFFF1"/>
                </a:solidFill>
                <a:latin typeface="Consolas" panose="020B0609020204030204" pitchFamily="49" charset="0"/>
              </a:rPr>
              <a:t>bias_checker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score  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6E22E"/>
                </a:solidFill>
                <a:latin typeface="Consolas" panose="020B0609020204030204" pitchFamily="49" charset="0"/>
              </a:rPr>
              <a:t>Task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(</a:t>
            </a:r>
            <a:r>
              <a:rPr lang="en-US" sz="1200" i="1" dirty="0">
                <a:solidFill>
                  <a:srgbClr val="FD971F"/>
                </a:solidFill>
                <a:latin typeface="Consolas" panose="020B0609020204030204" pitchFamily="49" charset="0"/>
              </a:rPr>
              <a:t>description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>
                <a:solidFill>
                  <a:srgbClr val="E6DB74"/>
                </a:solidFill>
                <a:latin typeface="Consolas" panose="020B0609020204030204" pitchFamily="49" charset="0"/>
              </a:rPr>
              <a:t>Score redacted evidence against the rubric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",</a:t>
            </a:r>
            <a:endParaRPr lang="en-US" sz="12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              </a:t>
            </a:r>
            <a:r>
              <a:rPr lang="en-US" sz="1200" i="1" dirty="0">
                <a:solidFill>
                  <a:srgbClr val="FD971F"/>
                </a:solidFill>
                <a:latin typeface="Consolas" panose="020B0609020204030204" pitchFamily="49" charset="0"/>
              </a:rPr>
              <a:t>agent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 err="1">
                <a:solidFill>
                  <a:srgbClr val="FDFFF1"/>
                </a:solidFill>
                <a:latin typeface="Consolas" panose="020B0609020204030204" pitchFamily="49" charset="0"/>
              </a:rPr>
              <a:t>cv_evaluator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crew 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A6E22E"/>
                </a:solidFill>
                <a:latin typeface="Consolas" panose="020B0609020204030204" pitchFamily="49" charset="0"/>
              </a:rPr>
              <a:t>Crew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(</a:t>
            </a:r>
            <a:r>
              <a:rPr lang="en-US" sz="1200" i="1" dirty="0">
                <a:solidFill>
                  <a:srgbClr val="FD971F"/>
                </a:solidFill>
                <a:latin typeface="Consolas" panose="020B0609020204030204" pitchFamily="49" charset="0"/>
              </a:rPr>
              <a:t>agents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[</a:t>
            </a:r>
            <a:r>
              <a:rPr lang="en-US" sz="1200" dirty="0" err="1">
                <a:solidFill>
                  <a:srgbClr val="FDFFF1"/>
                </a:solidFill>
                <a:latin typeface="Consolas" panose="020B0609020204030204" pitchFamily="49" charset="0"/>
              </a:rPr>
              <a:t>bias_checker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FDFFF1"/>
                </a:solidFill>
                <a:latin typeface="Consolas" panose="020B0609020204030204" pitchFamily="49" charset="0"/>
              </a:rPr>
              <a:t>cv_evaluator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],</a:t>
            </a:r>
            <a:endParaRPr lang="en-US" sz="12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            </a:t>
            </a:r>
            <a:r>
              <a:rPr lang="en-US" sz="1200" i="1" dirty="0">
                <a:solidFill>
                  <a:srgbClr val="FD971F"/>
                </a:solidFill>
                <a:latin typeface="Consolas" panose="020B0609020204030204" pitchFamily="49" charset="0"/>
              </a:rPr>
              <a:t>tasks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[</a:t>
            </a: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redact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 score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],</a:t>
            </a:r>
            <a:endParaRPr lang="en-US" sz="12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            </a:t>
            </a:r>
            <a:r>
              <a:rPr lang="en-US" sz="1200" i="1" dirty="0">
                <a:solidFill>
                  <a:srgbClr val="FD971F"/>
                </a:solidFill>
                <a:latin typeface="Consolas" panose="020B0609020204030204" pitchFamily="49" charset="0"/>
              </a:rPr>
              <a:t>process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</a:t>
            </a:r>
            <a:r>
              <a:rPr lang="en-US" sz="1200" dirty="0">
                <a:solidFill>
                  <a:srgbClr val="E6DB74"/>
                </a:solidFill>
                <a:latin typeface="Consolas" panose="020B0609020204030204" pitchFamily="49" charset="0"/>
              </a:rPr>
              <a:t>sequential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")</a:t>
            </a: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   </a:t>
            </a:r>
            <a:r>
              <a:rPr lang="en-US" sz="1200" i="1" dirty="0">
                <a:solidFill>
                  <a:srgbClr val="6E7066"/>
                </a:solidFill>
                <a:latin typeface="Consolas" panose="020B0609020204030204" pitchFamily="49" charset="0"/>
              </a:rPr>
              <a:t># pipeline, not hierarchical</a:t>
            </a:r>
            <a:endParaRPr lang="en-US" sz="12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result </a:t>
            </a:r>
            <a:r>
              <a:rPr lang="en-US" sz="12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 err="1">
                <a:solidFill>
                  <a:srgbClr val="FDFFF1"/>
                </a:solidFill>
                <a:latin typeface="Consolas" panose="020B0609020204030204" pitchFamily="49" charset="0"/>
              </a:rPr>
              <a:t>crew</a:t>
            </a:r>
            <a:r>
              <a:rPr lang="en-US" sz="1200" dirty="0" err="1">
                <a:solidFill>
                  <a:srgbClr val="919288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A6E22E"/>
                </a:solidFill>
                <a:latin typeface="Consolas" panose="020B0609020204030204" pitchFamily="49" charset="0"/>
              </a:rPr>
              <a:t>kickoff</a:t>
            </a:r>
            <a:r>
              <a:rPr lang="en-US" sz="1200" dirty="0">
                <a:solidFill>
                  <a:srgbClr val="919288"/>
                </a:solidFill>
                <a:latin typeface="Consolas" panose="020B0609020204030204" pitchFamily="49" charset="0"/>
              </a:rPr>
              <a:t>()</a:t>
            </a:r>
            <a:endParaRPr lang="en-US" sz="12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2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endParaRPr lang="en-US" sz="1200" b="0" dirty="0">
              <a:solidFill>
                <a:srgbClr val="FDFFF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6805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75888" y="653690"/>
            <a:ext cx="10924071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200" dirty="0" err="1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LangGraph</a:t>
            </a:r>
            <a:r>
              <a:rPr lang="en-US" sz="3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 Implementation: Typed State Machine in </a:t>
            </a:r>
            <a:r>
              <a:rPr lang="en-US" sz="3200" dirty="0" err="1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CVera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063701" y="1471732"/>
            <a:ext cx="5436258" cy="5227241"/>
          </a:xfrm>
          <a:prstGeom prst="roundRect">
            <a:avLst>
              <a:gd name="adj" fmla="val 9583"/>
            </a:avLst>
          </a:prstGeom>
          <a:solidFill>
            <a:srgbClr val="1B1B27">
              <a:alpha val="7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238222" y="1668087"/>
            <a:ext cx="5087215" cy="4757646"/>
          </a:xfrm>
          <a:prstGeom prst="roundRect">
            <a:avLst>
              <a:gd name="adj" fmla="val 6581"/>
            </a:avLst>
          </a:prstGeom>
          <a:solidFill>
            <a:srgbClr val="282834"/>
          </a:solidFill>
          <a:ln/>
        </p:spPr>
      </p:sp>
      <p:sp>
        <p:nvSpPr>
          <p:cNvPr id="5" name="Text 3"/>
          <p:cNvSpPr/>
          <p:nvPr/>
        </p:nvSpPr>
        <p:spPr>
          <a:xfrm>
            <a:off x="6447668" y="1873305"/>
            <a:ext cx="4668324" cy="44240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en-US" sz="1400" dirty="0">
                <a:solidFill>
                  <a:srgbClr val="F92672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typing </a:t>
            </a:r>
            <a:r>
              <a:rPr lang="en-US" sz="1400" dirty="0">
                <a:solidFill>
                  <a:srgbClr val="F92672"/>
                </a:solidFill>
                <a:latin typeface="Consolas" panose="020B0609020204030204" pitchFamily="49" charset="0"/>
              </a:rPr>
              <a:t>import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FDFFF1"/>
                </a:solidFill>
                <a:latin typeface="Consolas" panose="020B0609020204030204" pitchFamily="49" charset="0"/>
              </a:rPr>
              <a:t>TypedDict</a:t>
            </a:r>
            <a:endParaRPr lang="en-US" sz="14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F92672"/>
                </a:solidFill>
                <a:latin typeface="Consolas" panose="020B0609020204030204" pitchFamily="49" charset="0"/>
              </a:rPr>
              <a:t>from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FDFFF1"/>
                </a:solidFill>
                <a:latin typeface="Consolas" panose="020B0609020204030204" pitchFamily="49" charset="0"/>
              </a:rPr>
              <a:t>langgraph</a:t>
            </a:r>
            <a:r>
              <a:rPr lang="en-US" sz="1400" dirty="0" err="1">
                <a:solidFill>
                  <a:srgbClr val="919288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FDFFF1"/>
                </a:solidFill>
                <a:latin typeface="Consolas" panose="020B0609020204030204" pitchFamily="49" charset="0"/>
              </a:rPr>
              <a:t>graph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F92672"/>
                </a:solidFill>
                <a:latin typeface="Consolas" panose="020B0609020204030204" pitchFamily="49" charset="0"/>
              </a:rPr>
              <a:t>import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E81FF"/>
                </a:solidFill>
                <a:latin typeface="Consolas" panose="020B0609020204030204" pitchFamily="49" charset="0"/>
              </a:rPr>
              <a:t>END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FDFFF1"/>
                </a:solidFill>
                <a:latin typeface="Consolas" panose="020B0609020204030204" pitchFamily="49" charset="0"/>
              </a:rPr>
              <a:t>StateGraph</a:t>
            </a:r>
            <a:endParaRPr lang="en-US" sz="14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400" i="1" dirty="0">
                <a:solidFill>
                  <a:srgbClr val="66D9EF"/>
                </a:solidFill>
                <a:latin typeface="Consolas" panose="020B0609020204030204" pitchFamily="49" charset="0"/>
              </a:rPr>
              <a:t>class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66D9EF"/>
                </a:solidFill>
                <a:latin typeface="Consolas" panose="020B0609020204030204" pitchFamily="49" charset="0"/>
              </a:rPr>
              <a:t>ScreenerState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(</a:t>
            </a:r>
            <a:r>
              <a:rPr lang="en-US" sz="1400" i="1" dirty="0" err="1">
                <a:solidFill>
                  <a:srgbClr val="66D9EF"/>
                </a:solidFill>
                <a:latin typeface="Consolas" panose="020B0609020204030204" pitchFamily="49" charset="0"/>
              </a:rPr>
              <a:t>TypedDict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,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400" i="1" dirty="0">
                <a:solidFill>
                  <a:srgbClr val="FD971F"/>
                </a:solidFill>
                <a:latin typeface="Consolas" panose="020B0609020204030204" pitchFamily="49" charset="0"/>
              </a:rPr>
              <a:t>total</a:t>
            </a:r>
            <a:r>
              <a:rPr lang="en-US" sz="14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AE81FF"/>
                </a:solidFill>
                <a:latin typeface="Consolas" panose="020B0609020204030204" pitchFamily="49" charset="0"/>
              </a:rPr>
              <a:t>False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):</a:t>
            </a:r>
            <a:endParaRPr lang="en-US" sz="14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    question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: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66D9EF"/>
                </a:solidFill>
                <a:latin typeface="Consolas" panose="020B0609020204030204" pitchFamily="49" charset="0"/>
              </a:rPr>
              <a:t>str</a:t>
            </a:r>
            <a:endParaRPr lang="en-US" sz="14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FDFFF1"/>
                </a:solidFill>
                <a:latin typeface="Consolas" panose="020B0609020204030204" pitchFamily="49" charset="0"/>
              </a:rPr>
              <a:t>collected_evidence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: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400" i="1" dirty="0">
                <a:solidFill>
                  <a:srgbClr val="66D9EF"/>
                </a:solidFill>
                <a:latin typeface="Consolas" panose="020B0609020204030204" pitchFamily="49" charset="0"/>
              </a:rPr>
              <a:t>list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[</a:t>
            </a:r>
            <a:r>
              <a:rPr lang="en-US" sz="1400" i="1" dirty="0" err="1">
                <a:solidFill>
                  <a:srgbClr val="66D9EF"/>
                </a:solidFill>
                <a:latin typeface="Consolas" panose="020B0609020204030204" pitchFamily="49" charset="0"/>
              </a:rPr>
              <a:t>dict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]</a:t>
            </a:r>
            <a:endParaRPr lang="en-US" sz="14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    answer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: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66D9EF"/>
                </a:solidFill>
                <a:latin typeface="Consolas" panose="020B0609020204030204" pitchFamily="49" charset="0"/>
              </a:rPr>
              <a:t>str</a:t>
            </a:r>
            <a:endParaRPr lang="en-US" sz="14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graph </a:t>
            </a:r>
            <a:r>
              <a:rPr lang="en-US" sz="14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A6E22E"/>
                </a:solidFill>
                <a:latin typeface="Consolas" panose="020B0609020204030204" pitchFamily="49" charset="0"/>
              </a:rPr>
              <a:t>StateGraph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(</a:t>
            </a:r>
            <a:r>
              <a:rPr lang="en-US" sz="1400" dirty="0" err="1">
                <a:solidFill>
                  <a:srgbClr val="FDFFF1"/>
                </a:solidFill>
                <a:latin typeface="Consolas" panose="020B0609020204030204" pitchFamily="49" charset="0"/>
              </a:rPr>
              <a:t>ScreenerState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)</a:t>
            </a:r>
            <a:endParaRPr lang="en-US" sz="14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400" dirty="0" err="1">
                <a:solidFill>
                  <a:srgbClr val="FDFFF1"/>
                </a:solidFill>
                <a:latin typeface="Consolas" panose="020B0609020204030204" pitchFamily="49" charset="0"/>
              </a:rPr>
              <a:t>graph</a:t>
            </a:r>
            <a:r>
              <a:rPr lang="en-US" sz="1400" dirty="0" err="1">
                <a:solidFill>
                  <a:srgbClr val="919288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A6E22E"/>
                </a:solidFill>
                <a:latin typeface="Consolas" panose="020B0609020204030204" pitchFamily="49" charset="0"/>
              </a:rPr>
              <a:t>add_node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("</a:t>
            </a:r>
            <a:r>
              <a:rPr lang="en-US" sz="1400" dirty="0">
                <a:solidFill>
                  <a:srgbClr val="E6DB74"/>
                </a:solidFill>
                <a:latin typeface="Consolas" panose="020B0609020204030204" pitchFamily="49" charset="0"/>
              </a:rPr>
              <a:t>router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",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FDFFF1"/>
                </a:solidFill>
                <a:latin typeface="Consolas" panose="020B0609020204030204" pitchFamily="49" charset="0"/>
              </a:rPr>
              <a:t>route_query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)</a:t>
            </a:r>
            <a:endParaRPr lang="en-US" sz="14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400" dirty="0" err="1">
                <a:solidFill>
                  <a:srgbClr val="FDFFF1"/>
                </a:solidFill>
                <a:latin typeface="Consolas" panose="020B0609020204030204" pitchFamily="49" charset="0"/>
              </a:rPr>
              <a:t>graph</a:t>
            </a:r>
            <a:r>
              <a:rPr lang="en-US" sz="1400" dirty="0" err="1">
                <a:solidFill>
                  <a:srgbClr val="919288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A6E22E"/>
                </a:solidFill>
                <a:latin typeface="Consolas" panose="020B0609020204030204" pitchFamily="49" charset="0"/>
              </a:rPr>
              <a:t>add_node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("</a:t>
            </a:r>
            <a:r>
              <a:rPr lang="en-US" sz="1400" dirty="0" err="1">
                <a:solidFill>
                  <a:srgbClr val="E6DB74"/>
                </a:solidFill>
                <a:latin typeface="Consolas" panose="020B0609020204030204" pitchFamily="49" charset="0"/>
              </a:rPr>
              <a:t>tool_executor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",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FDFFF1"/>
                </a:solidFill>
                <a:latin typeface="Consolas" panose="020B0609020204030204" pitchFamily="49" charset="0"/>
              </a:rPr>
              <a:t>run_tools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)</a:t>
            </a:r>
            <a:endParaRPr lang="en-US" sz="14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400" dirty="0" err="1">
                <a:solidFill>
                  <a:srgbClr val="FDFFF1"/>
                </a:solidFill>
                <a:latin typeface="Consolas" panose="020B0609020204030204" pitchFamily="49" charset="0"/>
              </a:rPr>
              <a:t>graph</a:t>
            </a:r>
            <a:r>
              <a:rPr lang="en-US" sz="1400" dirty="0" err="1">
                <a:solidFill>
                  <a:srgbClr val="919288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A6E22E"/>
                </a:solidFill>
                <a:latin typeface="Consolas" panose="020B0609020204030204" pitchFamily="49" charset="0"/>
              </a:rPr>
              <a:t>add_node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("</a:t>
            </a:r>
            <a:r>
              <a:rPr lang="en-US" sz="1400" dirty="0">
                <a:solidFill>
                  <a:srgbClr val="E6DB74"/>
                </a:solidFill>
                <a:latin typeface="Consolas" panose="020B0609020204030204" pitchFamily="49" charset="0"/>
              </a:rPr>
              <a:t>synthesizer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",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synthesize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)</a:t>
            </a:r>
            <a:endParaRPr lang="en-US" sz="14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/>
            </a:r>
            <a:b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</a:br>
            <a:r>
              <a:rPr lang="en-US" sz="1400" dirty="0" err="1">
                <a:solidFill>
                  <a:srgbClr val="FDFFF1"/>
                </a:solidFill>
                <a:latin typeface="Consolas" panose="020B0609020204030204" pitchFamily="49" charset="0"/>
              </a:rPr>
              <a:t>graph</a:t>
            </a:r>
            <a:r>
              <a:rPr lang="en-US" sz="1400" dirty="0" err="1">
                <a:solidFill>
                  <a:srgbClr val="919288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A6E22E"/>
                </a:solidFill>
                <a:latin typeface="Consolas" panose="020B0609020204030204" pitchFamily="49" charset="0"/>
              </a:rPr>
              <a:t>set_entry_point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("</a:t>
            </a:r>
            <a:r>
              <a:rPr lang="en-US" sz="1400" dirty="0">
                <a:solidFill>
                  <a:srgbClr val="E6DB74"/>
                </a:solidFill>
                <a:latin typeface="Consolas" panose="020B0609020204030204" pitchFamily="49" charset="0"/>
              </a:rPr>
              <a:t>router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")</a:t>
            </a:r>
            <a:endParaRPr lang="en-US" sz="14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400" dirty="0" err="1">
                <a:solidFill>
                  <a:srgbClr val="FDFFF1"/>
                </a:solidFill>
                <a:latin typeface="Consolas" panose="020B0609020204030204" pitchFamily="49" charset="0"/>
              </a:rPr>
              <a:t>graph</a:t>
            </a:r>
            <a:r>
              <a:rPr lang="en-US" sz="1400" dirty="0" err="1">
                <a:solidFill>
                  <a:srgbClr val="919288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A6E22E"/>
                </a:solidFill>
                <a:latin typeface="Consolas" panose="020B0609020204030204" pitchFamily="49" charset="0"/>
              </a:rPr>
              <a:t>add_edge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("</a:t>
            </a:r>
            <a:r>
              <a:rPr lang="en-US" sz="1400" dirty="0">
                <a:solidFill>
                  <a:srgbClr val="E6DB74"/>
                </a:solidFill>
                <a:latin typeface="Consolas" panose="020B0609020204030204" pitchFamily="49" charset="0"/>
              </a:rPr>
              <a:t>router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",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rgbClr val="E6DB74"/>
                </a:solidFill>
                <a:latin typeface="Consolas" panose="020B0609020204030204" pitchFamily="49" charset="0"/>
              </a:rPr>
              <a:t>tool_executor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")</a:t>
            </a:r>
            <a:endParaRPr lang="en-US" sz="14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400" dirty="0" err="1">
                <a:solidFill>
                  <a:srgbClr val="FDFFF1"/>
                </a:solidFill>
                <a:latin typeface="Consolas" panose="020B0609020204030204" pitchFamily="49" charset="0"/>
              </a:rPr>
              <a:t>graph</a:t>
            </a:r>
            <a:r>
              <a:rPr lang="en-US" sz="1400" dirty="0" err="1">
                <a:solidFill>
                  <a:srgbClr val="919288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A6E22E"/>
                </a:solidFill>
                <a:latin typeface="Consolas" panose="020B0609020204030204" pitchFamily="49" charset="0"/>
              </a:rPr>
              <a:t>add_edge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("</a:t>
            </a:r>
            <a:r>
              <a:rPr lang="en-US" sz="1400" dirty="0" err="1">
                <a:solidFill>
                  <a:srgbClr val="E6DB74"/>
                </a:solidFill>
                <a:latin typeface="Consolas" panose="020B0609020204030204" pitchFamily="49" charset="0"/>
              </a:rPr>
              <a:t>tool_executor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",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E6DB74"/>
                </a:solidFill>
                <a:latin typeface="Consolas" panose="020B0609020204030204" pitchFamily="49" charset="0"/>
              </a:rPr>
              <a:t>synthesizer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")</a:t>
            </a:r>
            <a:endParaRPr lang="en-US" sz="14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400" dirty="0" err="1">
                <a:solidFill>
                  <a:srgbClr val="FDFFF1"/>
                </a:solidFill>
                <a:latin typeface="Consolas" panose="020B0609020204030204" pitchFamily="49" charset="0"/>
              </a:rPr>
              <a:t>graph</a:t>
            </a:r>
            <a:r>
              <a:rPr lang="en-US" sz="1400" dirty="0" err="1">
                <a:solidFill>
                  <a:srgbClr val="919288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A6E22E"/>
                </a:solidFill>
                <a:latin typeface="Consolas" panose="020B0609020204030204" pitchFamily="49" charset="0"/>
              </a:rPr>
              <a:t>add_edge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("</a:t>
            </a:r>
            <a:r>
              <a:rPr lang="en-US" sz="1400" dirty="0">
                <a:solidFill>
                  <a:srgbClr val="E6DB74"/>
                </a:solidFill>
                <a:latin typeface="Consolas" panose="020B0609020204030204" pitchFamily="49" charset="0"/>
              </a:rPr>
              <a:t>synthesizer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",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E81FF"/>
                </a:solidFill>
                <a:latin typeface="Consolas" panose="020B0609020204030204" pitchFamily="49" charset="0"/>
              </a:rPr>
              <a:t>END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)</a:t>
            </a:r>
            <a:endParaRPr lang="en-US" sz="1400" dirty="0">
              <a:solidFill>
                <a:srgbClr val="FDFFF1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app </a:t>
            </a:r>
            <a:r>
              <a:rPr lang="en-US" sz="1400" dirty="0">
                <a:solidFill>
                  <a:srgbClr val="F92672"/>
                </a:solidFill>
                <a:latin typeface="Consolas" panose="020B0609020204030204" pitchFamily="49" charset="0"/>
              </a:rPr>
              <a:t>=</a:t>
            </a:r>
            <a:r>
              <a:rPr lang="en-US" sz="1400" dirty="0">
                <a:solidFill>
                  <a:srgbClr val="FDFFF1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FDFFF1"/>
                </a:solidFill>
                <a:latin typeface="Consolas" panose="020B0609020204030204" pitchFamily="49" charset="0"/>
              </a:rPr>
              <a:t>graph</a:t>
            </a:r>
            <a:r>
              <a:rPr lang="en-US" sz="1400" dirty="0" err="1">
                <a:solidFill>
                  <a:srgbClr val="919288"/>
                </a:solidFill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A6E22E"/>
                </a:solidFill>
                <a:latin typeface="Consolas" panose="020B0609020204030204" pitchFamily="49" charset="0"/>
              </a:rPr>
              <a:t>compile</a:t>
            </a:r>
            <a:r>
              <a:rPr lang="en-US" sz="1400" dirty="0">
                <a:solidFill>
                  <a:srgbClr val="919288"/>
                </a:solidFill>
                <a:latin typeface="Consolas" panose="020B0609020204030204" pitchFamily="49" charset="0"/>
              </a:rPr>
              <a:t>()</a:t>
            </a:r>
            <a:endParaRPr lang="en-US" sz="1400" b="0" dirty="0">
              <a:solidFill>
                <a:srgbClr val="FDFFF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75888" y="1569979"/>
            <a:ext cx="5184844" cy="3080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Graph Logic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75887" y="2147360"/>
            <a:ext cx="5452889" cy="427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>
              <a:lnSpc>
                <a:spcPct val="13300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Typed State Architecture</a:t>
            </a:r>
            <a:r>
              <a:rPr lang="en-US" sz="1350" b="1" dirty="0" smtClean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:</a:t>
            </a:r>
          </a:p>
          <a:p>
            <a:pPr marL="731520" lvl="1" indent="-274320">
              <a:lnSpc>
                <a:spcPct val="133000"/>
              </a:lnSpc>
              <a:buSzPct val="100000"/>
              <a:buChar char="•"/>
            </a:pPr>
            <a:r>
              <a:rPr lang="en-US" sz="1350" b="1" dirty="0" err="1" smtClean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ScreenerState</a:t>
            </a:r>
            <a:r>
              <a:rPr lang="en-US" sz="1350" b="1" dirty="0" smtClean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 </a:t>
            </a: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(</a:t>
            </a:r>
            <a:r>
              <a:rPr lang="en-US" sz="1350" b="1" dirty="0" err="1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TypedDict</a:t>
            </a: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) </a:t>
            </a:r>
            <a:r>
              <a:rPr lang="fr-FR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passes explicit </a:t>
            </a:r>
            <a:r>
              <a:rPr lang="fr-FR" sz="1350" b="1" dirty="0" err="1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context</a:t>
            </a:r>
            <a:r>
              <a:rPr lang="fr-FR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 </a:t>
            </a:r>
            <a:r>
              <a:rPr lang="fr-FR" sz="1350" b="1" dirty="0" err="1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across</a:t>
            </a:r>
            <a:r>
              <a:rPr lang="fr-FR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 </a:t>
            </a:r>
            <a:r>
              <a:rPr lang="fr-FR" sz="1350" b="1" dirty="0" err="1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nodes</a:t>
            </a:r>
            <a:endParaRPr lang="ar-EG" sz="1350" b="1" dirty="0" smtClean="0">
              <a:solidFill>
                <a:srgbClr val="FFFFFF"/>
              </a:solidFill>
              <a:latin typeface="PT Sans Bold" pitchFamily="34" charset="0"/>
              <a:ea typeface="PT Sans Bold" pitchFamily="34" charset="-122"/>
              <a:cs typeface="PT Sans Bold" pitchFamily="34" charset="-120"/>
            </a:endParaRPr>
          </a:p>
          <a:p>
            <a:pPr lvl="1">
              <a:lnSpc>
                <a:spcPct val="133000"/>
              </a:lnSpc>
              <a:buSzPct val="100000"/>
            </a:pPr>
            <a:endParaRPr lang="en-US" sz="1350" b="1" dirty="0" smtClean="0">
              <a:solidFill>
                <a:srgbClr val="FFFFFF"/>
              </a:solidFill>
              <a:latin typeface="PT Sans Bold" pitchFamily="34" charset="0"/>
              <a:ea typeface="PT Sans Bold" pitchFamily="34" charset="-122"/>
              <a:cs typeface="PT Sans Bold" pitchFamily="34" charset="-120"/>
            </a:endParaRPr>
          </a:p>
          <a:p>
            <a:pPr marL="274320" indent="-274320">
              <a:lnSpc>
                <a:spcPct val="133000"/>
              </a:lnSpc>
              <a:buSzPct val="100000"/>
              <a:buChar char="•"/>
            </a:pPr>
            <a:r>
              <a:rPr lang="en-US" sz="1350" b="1" dirty="0" smtClean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Node </a:t>
            </a: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Roles in RAG Graph</a:t>
            </a:r>
            <a:r>
              <a:rPr lang="en-US" sz="1350" b="1" dirty="0" smtClean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:</a:t>
            </a:r>
          </a:p>
          <a:p>
            <a:pPr marL="731520" lvl="1" indent="-274320">
              <a:lnSpc>
                <a:spcPct val="133000"/>
              </a:lnSpc>
              <a:buSzPct val="100000"/>
              <a:buChar char="•"/>
            </a:pPr>
            <a:r>
              <a:rPr lang="en-US" sz="1350" b="1" dirty="0" smtClean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router</a:t>
            </a: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: Classifies candidate queries &amp; routes retrieval scope</a:t>
            </a:r>
            <a:r>
              <a:rPr lang="en-US" sz="1350" b="1" dirty="0" smtClean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.</a:t>
            </a:r>
          </a:p>
          <a:p>
            <a:pPr marL="731520" lvl="1" indent="-274320">
              <a:lnSpc>
                <a:spcPct val="133000"/>
              </a:lnSpc>
              <a:buSzPct val="100000"/>
              <a:buChar char="•"/>
            </a:pPr>
            <a:r>
              <a:rPr lang="en-US" sz="1350" b="1" dirty="0" err="1" smtClean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tool_executor</a:t>
            </a: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: Queries candidate CVs &amp; talent pool databases</a:t>
            </a:r>
            <a:r>
              <a:rPr lang="en-US" sz="1350" b="1" dirty="0" smtClean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.</a:t>
            </a:r>
          </a:p>
          <a:p>
            <a:pPr marL="731520" lvl="1" indent="-274320">
              <a:lnSpc>
                <a:spcPct val="133000"/>
              </a:lnSpc>
              <a:buSzPct val="100000"/>
              <a:buChar char="•"/>
            </a:pPr>
            <a:r>
              <a:rPr lang="en-US" sz="1350" b="1" dirty="0" smtClean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synthesizer</a:t>
            </a: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: Generates grounded answers </a:t>
            </a:r>
            <a:r>
              <a:rPr lang="en-US" sz="1350" b="1" dirty="0" smtClean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with </a:t>
            </a: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citations</a:t>
            </a:r>
            <a:r>
              <a:rPr lang="en-US" sz="1350" b="1" dirty="0" smtClean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.</a:t>
            </a:r>
            <a:endParaRPr lang="ar-EG" sz="1350" b="1" dirty="0" smtClean="0">
              <a:solidFill>
                <a:srgbClr val="FFFFFF"/>
              </a:solidFill>
              <a:latin typeface="PT Sans Bold" pitchFamily="34" charset="0"/>
              <a:ea typeface="PT Sans Bold" pitchFamily="34" charset="-122"/>
              <a:cs typeface="PT Sans Bold" pitchFamily="34" charset="-120"/>
            </a:endParaRPr>
          </a:p>
          <a:p>
            <a:pPr lvl="1">
              <a:lnSpc>
                <a:spcPct val="133000"/>
              </a:lnSpc>
              <a:buSzPct val="100000"/>
            </a:pPr>
            <a:endParaRPr lang="en-US" sz="1350" b="1" dirty="0" smtClean="0">
              <a:solidFill>
                <a:srgbClr val="FFFFFF"/>
              </a:solidFill>
              <a:latin typeface="PT Sans Bold" pitchFamily="34" charset="0"/>
              <a:ea typeface="PT Sans Bold" pitchFamily="34" charset="-122"/>
              <a:cs typeface="PT Sans Bold" pitchFamily="34" charset="-120"/>
            </a:endParaRPr>
          </a:p>
          <a:p>
            <a:pPr marL="274320" indent="-274320">
              <a:lnSpc>
                <a:spcPct val="133000"/>
              </a:lnSpc>
              <a:buSzPct val="100000"/>
              <a:buChar char="•"/>
            </a:pPr>
            <a:r>
              <a:rPr lang="en-US" sz="1350" b="1" dirty="0" smtClean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Execution </a:t>
            </a: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Guards &amp; Fault Tolerance</a:t>
            </a:r>
            <a:r>
              <a:rPr lang="en-US" sz="1350" b="1" dirty="0" smtClean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:</a:t>
            </a:r>
          </a:p>
          <a:p>
            <a:pPr marL="731520" lvl="1" indent="-274320">
              <a:lnSpc>
                <a:spcPct val="133000"/>
              </a:lnSpc>
              <a:buSzPct val="100000"/>
              <a:buChar char="•"/>
            </a:pPr>
            <a:r>
              <a:rPr lang="en-US" sz="1350" b="1" dirty="0" smtClean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Bounded </a:t>
            </a: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execution: </a:t>
            </a: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Max 10 steps &amp; 30s timeout per node</a:t>
            </a:r>
            <a:endParaRPr lang="en-US" sz="1350" b="1" dirty="0" smtClean="0">
              <a:solidFill>
                <a:srgbClr val="FFFFFF"/>
              </a:solidFill>
              <a:latin typeface="PT Sans Bold" pitchFamily="34" charset="0"/>
              <a:ea typeface="PT Sans Bold" pitchFamily="34" charset="-122"/>
              <a:cs typeface="PT Sans Bold" pitchFamily="34" charset="-120"/>
            </a:endParaRPr>
          </a:p>
          <a:p>
            <a:pPr marL="731520" lvl="1" indent="-274320">
              <a:lnSpc>
                <a:spcPct val="133000"/>
              </a:lnSpc>
              <a:buSzPct val="100000"/>
              <a:buChar char="•"/>
            </a:pPr>
            <a:r>
              <a:rPr lang="en-US" sz="1350" b="1" dirty="0" smtClean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Automatic </a:t>
            </a: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fallback to Plain RAG if graph execution fails.</a:t>
            </a:r>
            <a:endParaRPr lang="en-US" sz="1350" dirty="0"/>
          </a:p>
        </p:txBody>
      </p:sp>
    </p:spTree>
    <p:extLst>
      <p:ext uri="{BB962C8B-B14F-4D97-AF65-F5344CB8AC3E}">
        <p14:creationId xmlns:p14="http://schemas.microsoft.com/office/powerpoint/2010/main" val="17039448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855688"/>
            <a:ext cx="10795524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Production Engineering Challenges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98086" y="2717998"/>
            <a:ext cx="3482094" cy="2284214"/>
          </a:xfrm>
          <a:prstGeom prst="roundRect">
            <a:avLst>
              <a:gd name="adj" fmla="val 11462"/>
            </a:avLst>
          </a:prstGeom>
          <a:solidFill>
            <a:srgbClr val="00002E"/>
          </a:solidFill>
          <a:ln w="19050">
            <a:solidFill>
              <a:srgbClr val="FFA72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91657" y="2911574"/>
            <a:ext cx="523564" cy="523577"/>
          </a:xfrm>
          <a:prstGeom prst="ellipse">
            <a:avLst/>
          </a:prstGeom>
          <a:solidFill>
            <a:srgbClr val="FFA726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1035619" y="3055541"/>
            <a:ext cx="235539" cy="23554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91657" y="3609677"/>
            <a:ext cx="3094952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Token Cost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91657" y="3971032"/>
            <a:ext cx="3094952" cy="5584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High token consumption caused by repetitive inter-agent dialogue.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54701" y="2717998"/>
            <a:ext cx="3482193" cy="2284214"/>
          </a:xfrm>
          <a:prstGeom prst="roundRect">
            <a:avLst>
              <a:gd name="adj" fmla="val 11462"/>
            </a:avLst>
          </a:prstGeom>
          <a:solidFill>
            <a:srgbClr val="00002E"/>
          </a:solidFill>
          <a:ln w="19050">
            <a:solidFill>
              <a:srgbClr val="FFCA2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48272" y="2911574"/>
            <a:ext cx="523564" cy="523577"/>
          </a:xfrm>
          <a:prstGeom prst="ellipse">
            <a:avLst/>
          </a:prstGeom>
          <a:solidFill>
            <a:srgbClr val="FFCA28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4692235" y="3055541"/>
            <a:ext cx="235539" cy="23554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48272" y="3609677"/>
            <a:ext cx="309505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Execution Latency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548272" y="3971032"/>
            <a:ext cx="3095051" cy="837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Sequential multi-step reasoning adds noticeable latency compared to single queries.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8011416" y="2717998"/>
            <a:ext cx="3482193" cy="2284214"/>
          </a:xfrm>
          <a:prstGeom prst="roundRect">
            <a:avLst>
              <a:gd name="adj" fmla="val 11462"/>
            </a:avLst>
          </a:prstGeom>
          <a:solidFill>
            <a:srgbClr val="00002E"/>
          </a:solidFill>
          <a:ln w="19050">
            <a:solidFill>
              <a:srgbClr val="FF8A6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204987" y="2911574"/>
            <a:ext cx="523564" cy="523577"/>
          </a:xfrm>
          <a:prstGeom prst="ellipse">
            <a:avLst/>
          </a:prstGeom>
          <a:solidFill>
            <a:srgbClr val="FF8A65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8348950" y="3055541"/>
            <a:ext cx="235539" cy="23554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04987" y="3609677"/>
            <a:ext cx="309505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System Observability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8204987" y="3971032"/>
            <a:ext cx="3095051" cy="8376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Difficulty in debugging complex interaction chains without specialized tracing (e.g., LangSmith).</a:t>
            </a:r>
            <a:endParaRPr lang="en-US" sz="1350" dirty="0"/>
          </a:p>
        </p:txBody>
      </p:sp>
      <p:sp>
        <p:nvSpPr>
          <p:cNvPr id="18" name="Rectangle 17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633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4"/>
          <p:cNvSpPr/>
          <p:nvPr/>
        </p:nvSpPr>
        <p:spPr>
          <a:xfrm>
            <a:off x="698086" y="957560"/>
            <a:ext cx="10795524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Security &amp; Risk Mitigation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98086" y="1732558"/>
            <a:ext cx="11405108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Ensuring Robust Multi-Agent Systems</a:t>
            </a:r>
            <a:endParaRPr lang="en-US" sz="13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698086" y="2208113"/>
            <a:ext cx="10795524" cy="1926332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925787" y="3040360"/>
            <a:ext cx="261733" cy="261739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89742" y="2401689"/>
            <a:ext cx="9710296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Security Threats</a:t>
            </a:r>
            <a:endParaRPr lang="en-US" sz="1600" dirty="0"/>
          </a:p>
        </p:txBody>
      </p:sp>
      <p:sp>
        <p:nvSpPr>
          <p:cNvPr id="11" name="Text 7"/>
          <p:cNvSpPr/>
          <p:nvPr/>
        </p:nvSpPr>
        <p:spPr>
          <a:xfrm>
            <a:off x="1589742" y="2763044"/>
            <a:ext cx="9710296" cy="11778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3300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Indirect Prompt Injection:</a:t>
            </a: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Agents reading malicious payload from untrusted external files, leading to unintended actions or data breaches.</a:t>
            </a:r>
            <a:endParaRPr lang="en-US" sz="1350" dirty="0"/>
          </a:p>
          <a:p>
            <a:pPr marL="274320" indent="-274320" algn="l">
              <a:lnSpc>
                <a:spcPct val="13300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Cascading Failures:</a:t>
            </a: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A minor hallucination or error in early steps can escalate downstream, corrupting subsequent agent outputs and the final result.</a:t>
            </a:r>
            <a:endParaRPr lang="en-US" sz="135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98086" y="4308971"/>
            <a:ext cx="10795524" cy="1926332"/>
          </a:xfrm>
          <a:prstGeom prst="rect">
            <a:avLst/>
          </a:prstGeom>
        </p:spPr>
      </p:pic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925787" y="5141218"/>
            <a:ext cx="261733" cy="26173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89742" y="4502547"/>
            <a:ext cx="9710296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Prevention Strategy</a:t>
            </a:r>
            <a:endParaRPr lang="en-US" sz="1600" dirty="0"/>
          </a:p>
        </p:txBody>
      </p:sp>
      <p:sp>
        <p:nvSpPr>
          <p:cNvPr id="15" name="Text 9"/>
          <p:cNvSpPr/>
          <p:nvPr/>
        </p:nvSpPr>
        <p:spPr>
          <a:xfrm>
            <a:off x="1589742" y="4863902"/>
            <a:ext cx="9710296" cy="117782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74320" indent="-274320" algn="l">
              <a:lnSpc>
                <a:spcPct val="13300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Strict Guardrails:</a:t>
            </a: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Implement robust input and output validation layers between graph nodes to sanitize data and prevent malicious instructions from propagating.</a:t>
            </a:r>
            <a:endParaRPr lang="en-US" sz="1350" dirty="0"/>
          </a:p>
          <a:p>
            <a:pPr marL="274320" indent="-274320" algn="l">
              <a:lnSpc>
                <a:spcPct val="133000"/>
              </a:lnSpc>
              <a:buSzPct val="100000"/>
              <a:buChar char="•"/>
            </a:pP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Human-in-the-Loop (HITL):</a:t>
            </a: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Introduce mandatory human approval gates for high-risk executions, sensitive data access, or critical decision points within the workflow.</a:t>
            </a:r>
            <a:endParaRPr lang="en-US" sz="1350" dirty="0"/>
          </a:p>
        </p:txBody>
      </p:sp>
      <p:sp>
        <p:nvSpPr>
          <p:cNvPr id="16" name="Rectangle 15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453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338759"/>
            <a:ext cx="10795524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The Future of Agentic AI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98086" y="2201069"/>
            <a:ext cx="11405108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As Multi-Agent Systems evolve, we anticipate several transformative shifts across industries and AI development.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98086" y="2676624"/>
            <a:ext cx="3482094" cy="2842617"/>
          </a:xfrm>
          <a:prstGeom prst="roundRect">
            <a:avLst>
              <a:gd name="adj" fmla="val 9210"/>
            </a:avLst>
          </a:prstGeom>
          <a:solidFill>
            <a:srgbClr val="00002E"/>
          </a:solidFill>
          <a:ln w="19050">
            <a:solidFill>
              <a:srgbClr val="F2B4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657" y="2870200"/>
            <a:ext cx="523564" cy="523577"/>
          </a:xfrm>
          <a:prstGeom prst="ellipse">
            <a:avLst/>
          </a:prstGeom>
          <a:solidFill>
            <a:srgbClr val="F2B42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1035619" y="3014166"/>
            <a:ext cx="235539" cy="23554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1657" y="3568303"/>
            <a:ext cx="3094952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Digital Workforce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91657" y="3929658"/>
            <a:ext cx="3094952" cy="11168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Organizations shifting from traditional software to specialized "Agent Workforces" that autonomously handle complex, multi-step tasks.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54701" y="2676624"/>
            <a:ext cx="3482193" cy="2842617"/>
          </a:xfrm>
          <a:prstGeom prst="roundRect">
            <a:avLst>
              <a:gd name="adj" fmla="val 9210"/>
            </a:avLst>
          </a:prstGeom>
          <a:solidFill>
            <a:srgbClr val="00002E"/>
          </a:solidFill>
          <a:ln w="19050">
            <a:solidFill>
              <a:srgbClr val="D742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48272" y="2870200"/>
            <a:ext cx="523564" cy="523577"/>
          </a:xfrm>
          <a:prstGeom prst="ellipse">
            <a:avLst/>
          </a:prstGeom>
          <a:solidFill>
            <a:srgbClr val="D7425E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4692235" y="3014166"/>
            <a:ext cx="235539" cy="23554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48272" y="3568303"/>
            <a:ext cx="309505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Universal Protocols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48272" y="3929658"/>
            <a:ext cx="3095051" cy="13960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Emergence of standardized Agent-to-Agent (A2A) communication protocols to enable seamless interaction and interoperability between diverse agent systems.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011416" y="2676624"/>
            <a:ext cx="3482193" cy="2842617"/>
          </a:xfrm>
          <a:prstGeom prst="roundRect">
            <a:avLst>
              <a:gd name="adj" fmla="val 9210"/>
            </a:avLst>
          </a:prstGeom>
          <a:solidFill>
            <a:srgbClr val="00002E"/>
          </a:solidFill>
          <a:ln w="19050">
            <a:solidFill>
              <a:srgbClr val="DD78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04987" y="2870200"/>
            <a:ext cx="523564" cy="523577"/>
          </a:xfrm>
          <a:prstGeom prst="ellipse">
            <a:avLst/>
          </a:prstGeom>
          <a:solidFill>
            <a:srgbClr val="DD785E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8348950" y="3014166"/>
            <a:ext cx="235539" cy="23554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04987" y="3568303"/>
            <a:ext cx="309505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Advanced Reasoning Models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204987" y="3929658"/>
            <a:ext cx="3095051" cy="11168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Integration with next-generation reasoning models for truly autonomous long-horizon planning, problem-solving, and decision-making capabilities.</a:t>
            </a:r>
            <a:endParaRPr lang="en-US" sz="1350" dirty="0"/>
          </a:p>
        </p:txBody>
      </p:sp>
      <p:sp>
        <p:nvSpPr>
          <p:cNvPr id="19" name="Rectangle 18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25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1031180"/>
            <a:ext cx="10795524" cy="513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32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Conclusion &amp; Key Takeaways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393293" y="1893491"/>
            <a:ext cx="11405108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Reflecting on the transformative power of Multi-Agent Systems.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98086" y="2369046"/>
            <a:ext cx="3482094" cy="2563416"/>
          </a:xfrm>
          <a:prstGeom prst="roundRect">
            <a:avLst>
              <a:gd name="adj" fmla="val 10214"/>
            </a:avLst>
          </a:prstGeom>
          <a:solidFill>
            <a:srgbClr val="00002E"/>
          </a:solidFill>
          <a:ln w="19050">
            <a:solidFill>
              <a:srgbClr val="F2B42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1657" y="2562622"/>
            <a:ext cx="523564" cy="523577"/>
          </a:xfrm>
          <a:prstGeom prst="ellipse">
            <a:avLst/>
          </a:prstGeom>
          <a:solidFill>
            <a:srgbClr val="F2B42D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1035619" y="2706588"/>
            <a:ext cx="235539" cy="23554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1657" y="3260725"/>
            <a:ext cx="3094952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Specialization Beats Scale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91657" y="3622080"/>
            <a:ext cx="3094952" cy="11168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Specialized agents outperform single LLMs for complex, multi-step tasks, reducing cognitive load and improving accuracy.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354701" y="2369046"/>
            <a:ext cx="3482193" cy="2563416"/>
          </a:xfrm>
          <a:prstGeom prst="roundRect">
            <a:avLst>
              <a:gd name="adj" fmla="val 10214"/>
            </a:avLst>
          </a:prstGeom>
          <a:solidFill>
            <a:srgbClr val="00002E"/>
          </a:solidFill>
          <a:ln w="19050">
            <a:solidFill>
              <a:srgbClr val="D7425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48272" y="2562622"/>
            <a:ext cx="523564" cy="523577"/>
          </a:xfrm>
          <a:prstGeom prst="ellipse">
            <a:avLst/>
          </a:prstGeom>
          <a:solidFill>
            <a:srgbClr val="D7425E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4692235" y="2706588"/>
            <a:ext cx="235539" cy="23554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48272" y="3260725"/>
            <a:ext cx="309505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Strategic Orchestration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548272" y="3622080"/>
            <a:ext cx="3095051" cy="11168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Effective orchestration is crucial, seamlessly coordinating state management, memory, and intelligent task routing among agents.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8011416" y="2369046"/>
            <a:ext cx="3482193" cy="2563416"/>
          </a:xfrm>
          <a:prstGeom prst="roundRect">
            <a:avLst>
              <a:gd name="adj" fmla="val 10214"/>
            </a:avLst>
          </a:prstGeom>
          <a:solidFill>
            <a:srgbClr val="00002E"/>
          </a:solidFill>
          <a:ln w="19050">
            <a:solidFill>
              <a:srgbClr val="DD785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204987" y="2562622"/>
            <a:ext cx="523564" cy="523577"/>
          </a:xfrm>
          <a:prstGeom prst="ellipse">
            <a:avLst/>
          </a:prstGeom>
          <a:solidFill>
            <a:srgbClr val="DD785E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8348950" y="2706588"/>
            <a:ext cx="235539" cy="23554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04987" y="3260725"/>
            <a:ext cx="3095051" cy="2566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Framework Selection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204987" y="3622080"/>
            <a:ext cx="3095051" cy="11168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Choose CrewAI for rapid prototyping and simplified workflows; opt for LangGraph for fine-grained, state-controlled production systems.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98086" y="5128816"/>
            <a:ext cx="10795524" cy="697905"/>
          </a:xfrm>
          <a:prstGeom prst="roundRect">
            <a:avLst>
              <a:gd name="adj" fmla="val 37515"/>
            </a:avLst>
          </a:prstGeom>
          <a:solidFill>
            <a:srgbClr val="785507"/>
          </a:solidFill>
          <a:ln/>
        </p:spPr>
      </p:sp>
      <p:sp>
        <p:nvSpPr>
          <p:cNvPr id="21" name="Text 15"/>
          <p:cNvSpPr/>
          <p:nvPr/>
        </p:nvSpPr>
        <p:spPr>
          <a:xfrm>
            <a:off x="891657" y="5348960"/>
            <a:ext cx="10663368" cy="279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T Sans Bold" pitchFamily="34" charset="0"/>
                <a:ea typeface="PT Sans Bold" pitchFamily="34" charset="-122"/>
                <a:cs typeface="PT Sans Bold" pitchFamily="34" charset="-120"/>
              </a:rPr>
              <a:t>Multi-Agent Systems represent the shift from static AI responses to dynamic, autonomous execution.</a:t>
            </a:r>
            <a:endParaRPr lang="en-US" sz="1350" dirty="0"/>
          </a:p>
        </p:txBody>
      </p:sp>
      <p:sp>
        <p:nvSpPr>
          <p:cNvPr id="22" name="Rectangle 21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5229" y="1272209"/>
            <a:ext cx="10795524" cy="2319129"/>
          </a:xfrm>
          <a:prstGeom prst="roundRect">
            <a:avLst>
              <a:gd name="adj" fmla="val 19353"/>
            </a:avLst>
          </a:prstGeom>
          <a:solidFill>
            <a:srgbClr val="785507"/>
          </a:solidFill>
          <a:ln/>
        </p:spPr>
      </p:sp>
      <p:sp>
        <p:nvSpPr>
          <p:cNvPr id="4" name="Text 1"/>
          <p:cNvSpPr/>
          <p:nvPr/>
        </p:nvSpPr>
        <p:spPr>
          <a:xfrm>
            <a:off x="645229" y="1644353"/>
            <a:ext cx="10795524" cy="4105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dirty="0">
                <a:solidFill>
                  <a:schemeClr val="bg1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Interactive Discussion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658443" y="2168454"/>
            <a:ext cx="10769095" cy="11989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What is the first workflow in your organization that you </a:t>
            </a:r>
            <a:r>
              <a:rPr lang="en-US" sz="2400" dirty="0" smtClean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would convert into</a:t>
            </a:r>
          </a:p>
          <a:p>
            <a:pPr marL="0" indent="0" algn="ctr">
              <a:lnSpc>
                <a:spcPct val="133000"/>
              </a:lnSpc>
              <a:buNone/>
            </a:pPr>
            <a:r>
              <a:rPr lang="en-US" sz="2400" dirty="0" smtClean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a Multi-Agent system </a:t>
            </a:r>
            <a:r>
              <a:rPr lang="en-US" sz="24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today?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98086" y="3115469"/>
            <a:ext cx="10795524" cy="11168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    </a:t>
            </a:r>
            <a:endParaRPr lang="en-US" sz="13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    </a:t>
            </a:r>
            <a:endParaRPr lang="en-US" sz="135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     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0" y="4952390"/>
            <a:ext cx="12192000" cy="301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PT Sans" pitchFamily="34" charset="0"/>
                <a:ea typeface="PT Sans" pitchFamily="34" charset="-122"/>
                <a:cs typeface="PT Sans" pitchFamily="34" charset="-120"/>
              </a:rPr>
              <a:t>Open for Q&amp;A</a:t>
            </a:r>
            <a:endParaRPr lang="en-US" sz="1600" dirty="0"/>
          </a:p>
        </p:txBody>
      </p:sp>
      <p:sp>
        <p:nvSpPr>
          <p:cNvPr id="9" name="Text 3"/>
          <p:cNvSpPr/>
          <p:nvPr/>
        </p:nvSpPr>
        <p:spPr>
          <a:xfrm>
            <a:off x="-106017" y="4319305"/>
            <a:ext cx="12298017" cy="4105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Nunito SemiBold" pitchFamily="34" charset="0"/>
                <a:ea typeface="Nunito SemiBold" pitchFamily="34" charset="-122"/>
                <a:cs typeface="Nunito SemiBold" pitchFamily="34" charset="-120"/>
              </a:rPr>
              <a:t>Thank you for your time and attention!</a:t>
            </a:r>
            <a:endParaRPr lang="en-US" sz="2600" dirty="0"/>
          </a:p>
        </p:txBody>
      </p:sp>
      <p:sp>
        <p:nvSpPr>
          <p:cNvPr id="10" name="Rectangle 9"/>
          <p:cNvSpPr/>
          <p:nvPr/>
        </p:nvSpPr>
        <p:spPr>
          <a:xfrm>
            <a:off x="11015002" y="6569612"/>
            <a:ext cx="1176997" cy="288388"/>
          </a:xfrm>
          <a:prstGeom prst="rect">
            <a:avLst/>
          </a:prstGeom>
          <a:solidFill>
            <a:srgbClr val="00002E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2906</TotalTime>
  <Words>1583</Words>
  <Application>Microsoft Office PowerPoint</Application>
  <PresentationFormat>Widescreen</PresentationFormat>
  <Paragraphs>260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PT Sans Bold</vt:lpstr>
      <vt:lpstr>Consolas</vt:lpstr>
      <vt:lpstr>Arial</vt:lpstr>
      <vt:lpstr>Nunito SemiBold</vt:lpstr>
      <vt:lpstr>PT Sans</vt:lpstr>
      <vt:lpstr>Calibri</vt:lpstr>
      <vt:lpstr>Plus Jakarta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Maher</cp:lastModifiedBy>
  <cp:revision>25</cp:revision>
  <dcterms:created xsi:type="dcterms:W3CDTF">2026-09-09T21:53:57Z</dcterms:created>
  <dcterms:modified xsi:type="dcterms:W3CDTF">2026-09-17T20:23:14Z</dcterms:modified>
</cp:coreProperties>
</file>