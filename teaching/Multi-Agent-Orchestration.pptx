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91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313" r:id="rId10"/>
    <p:sldId id="270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288" r:id="rId25"/>
    <p:sldId id="289" r:id="rId26"/>
  </p:sldIdLst>
  <p:sldSz cx="12192000" cy="6858000"/>
  <p:notesSz cx="6858000" cy="121920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PT Sans Bold" panose="020B0604020202020204" charset="0"/>
      <p:regular r:id="rId32"/>
    </p:embeddedFont>
    <p:embeddedFont>
      <p:font typeface="PT Sans" panose="020B0604020202020204" charset="0"/>
      <p:regular r:id="rId33"/>
    </p:embeddedFon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Nunito SemiBold" panose="020B0604020202020204" charset="0"/>
      <p:regular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44" autoAdjust="0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1436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40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56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72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49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59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96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53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925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557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963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11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75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829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582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18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660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517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338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582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022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952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948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2E">
              <a:alpha val="80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2E">
              <a:alpha val="80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2E">
              <a:alpha val="80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2E">
              <a:alpha val="80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6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4.svg"/><Relationship Id="rId5" Type="http://schemas.openxmlformats.org/officeDocument/2006/relationships/image" Target="../media/image9.png"/><Relationship Id="rId10" Type="http://schemas.openxmlformats.org/officeDocument/2006/relationships/image" Target="../media/image-4-8.svg"/><Relationship Id="rId4" Type="http://schemas.openxmlformats.org/officeDocument/2006/relationships/image" Target="../media/image-4-2.sv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9-6.sv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9-4.svg"/><Relationship Id="rId5" Type="http://schemas.openxmlformats.org/officeDocument/2006/relationships/image" Target="../media/image14.png"/><Relationship Id="rId10" Type="http://schemas.openxmlformats.org/officeDocument/2006/relationships/image" Target="../media/image-9-8.svg"/><Relationship Id="rId4" Type="http://schemas.openxmlformats.org/officeDocument/2006/relationships/image" Target="../media/image-9-2.sv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0-6.sv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0-4.svg"/><Relationship Id="rId5" Type="http://schemas.openxmlformats.org/officeDocument/2006/relationships/image" Target="../media/image18.png"/><Relationship Id="rId10" Type="http://schemas.openxmlformats.org/officeDocument/2006/relationships/image" Target="../media/image-10-8.svg"/><Relationship Id="rId4" Type="http://schemas.openxmlformats.org/officeDocument/2006/relationships/image" Target="../media/image-10-2.sv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2-6.sv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2-4.svg"/><Relationship Id="rId5" Type="http://schemas.openxmlformats.org/officeDocument/2006/relationships/image" Target="../media/image22.png"/><Relationship Id="rId4" Type="http://schemas.openxmlformats.org/officeDocument/2006/relationships/image" Target="../media/image-12-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8-6.sv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-18-9.svg"/><Relationship Id="rId5" Type="http://schemas.openxmlformats.org/officeDocument/2006/relationships/image" Target="../media/image-18-3.svg"/><Relationship Id="rId10" Type="http://schemas.openxmlformats.org/officeDocument/2006/relationships/image" Target="../media/image34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0-6.sv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0-4.svg"/><Relationship Id="rId5" Type="http://schemas.openxmlformats.org/officeDocument/2006/relationships/image" Target="../media/image36.png"/><Relationship Id="rId4" Type="http://schemas.openxmlformats.org/officeDocument/2006/relationships/image" Target="../media/image-20-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2-6.svg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2-4.svg"/><Relationship Id="rId5" Type="http://schemas.openxmlformats.org/officeDocument/2006/relationships/image" Target="../media/image41.png"/><Relationship Id="rId4" Type="http://schemas.openxmlformats.org/officeDocument/2006/relationships/image" Target="../media/image-22-2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7-6.svg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7-4.svg"/><Relationship Id="rId5" Type="http://schemas.openxmlformats.org/officeDocument/2006/relationships/image" Target="../media/image45.png"/><Relationship Id="rId4" Type="http://schemas.openxmlformats.org/officeDocument/2006/relationships/image" Target="../media/image-27-2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8-6.svg"/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8-4.svg"/><Relationship Id="rId5" Type="http://schemas.openxmlformats.org/officeDocument/2006/relationships/image" Target="../media/image48.png"/><Relationship Id="rId10" Type="http://schemas.openxmlformats.org/officeDocument/2006/relationships/image" Target="../media/image-28-8.svg"/><Relationship Id="rId4" Type="http://schemas.openxmlformats.org/officeDocument/2006/relationships/image" Target="../media/image-28-2.svg"/><Relationship Id="rId9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0-6.svg"/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0-4.svg"/><Relationship Id="rId5" Type="http://schemas.openxmlformats.org/officeDocument/2006/relationships/image" Target="../media/image52.png"/><Relationship Id="rId4" Type="http://schemas.openxmlformats.org/officeDocument/2006/relationships/image" Target="../media/image-30-2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3-6.svg"/><Relationship Id="rId3" Type="http://schemas.openxmlformats.org/officeDocument/2006/relationships/image" Target="../media/image54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3-4.svg"/><Relationship Id="rId5" Type="http://schemas.openxmlformats.org/officeDocument/2006/relationships/image" Target="../media/image41.png"/><Relationship Id="rId4" Type="http://schemas.openxmlformats.org/officeDocument/2006/relationships/image" Target="../media/image-33-2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69971" y="2664123"/>
            <a:ext cx="6223638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Multi-Agent Orchestration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69971" y="3439120"/>
            <a:ext cx="6223638" cy="754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3000"/>
              </a:lnSpc>
              <a:spcAft>
                <a:spcPts val="1500"/>
              </a:spcAft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From Prompts to Autonomous AI </a:t>
            </a:r>
            <a:r>
              <a:rPr lang="en-US" sz="1350" dirty="0" smtClean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Teams</a:t>
            </a:r>
            <a:endParaRPr lang="ar-EG" sz="1350" dirty="0" smtClean="0">
              <a:solidFill>
                <a:srgbClr val="FFFFFF"/>
              </a:solidFill>
              <a:latin typeface="PT Sans" pitchFamily="34" charset="0"/>
              <a:ea typeface="PT Sans" pitchFamily="34" charset="-122"/>
              <a:cs typeface="PT Sans" pitchFamily="34" charset="-120"/>
            </a:endParaRPr>
          </a:p>
          <a:p>
            <a:pPr>
              <a:lnSpc>
                <a:spcPct val="133000"/>
              </a:lnSpc>
              <a:spcAft>
                <a:spcPts val="1500"/>
              </a:spcAft>
            </a:pPr>
            <a:r>
              <a:rPr lang="en-US" sz="1350" dirty="0" smtClean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</a:t>
            </a: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Complete Architectural Overview &amp; Practical Implementation Frameworks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20"/>
            <a:ext cx="4571886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10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142206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Evolution of AI Interaction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004516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How we shifted from static queries to autonomous multi-agent ecosystems.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4097933"/>
            <a:ext cx="10795524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82123" y="3574355"/>
            <a:ext cx="19050" cy="523577"/>
          </a:xfrm>
          <a:prstGeom prst="roundRect">
            <a:avLst>
              <a:gd name="adj" fmla="val 49999"/>
            </a:avLst>
          </a:prstGeom>
          <a:solidFill>
            <a:srgbClr val="F2B42D"/>
          </a:solidFill>
          <a:ln/>
        </p:spPr>
      </p:sp>
      <p:sp>
        <p:nvSpPr>
          <p:cNvPr id="6" name="Shape 4"/>
          <p:cNvSpPr/>
          <p:nvPr/>
        </p:nvSpPr>
        <p:spPr>
          <a:xfrm>
            <a:off x="2595299" y="3901579"/>
            <a:ext cx="392698" cy="392708"/>
          </a:xfrm>
          <a:prstGeom prst="ellipse">
            <a:avLst/>
          </a:prstGeom>
          <a:solidFill>
            <a:srgbClr val="00002E"/>
          </a:solidFill>
          <a:ln w="19050">
            <a:solidFill>
              <a:srgbClr val="F2B4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68471" y="3943945"/>
            <a:ext cx="246354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72607" y="2480072"/>
            <a:ext cx="383818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2022 — Prompting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2607" y="2841427"/>
            <a:ext cx="383818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Single-turn Q&amp;A and basic instructions.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84923" y="4097933"/>
            <a:ext cx="19050" cy="523577"/>
          </a:xfrm>
          <a:prstGeom prst="roundRect">
            <a:avLst>
              <a:gd name="adj" fmla="val 49999"/>
            </a:avLst>
          </a:prstGeom>
          <a:solidFill>
            <a:srgbClr val="D7425E"/>
          </a:solidFill>
          <a:ln/>
        </p:spPr>
      </p:sp>
      <p:sp>
        <p:nvSpPr>
          <p:cNvPr id="11" name="Shape 9"/>
          <p:cNvSpPr/>
          <p:nvPr/>
        </p:nvSpPr>
        <p:spPr>
          <a:xfrm>
            <a:off x="4798099" y="3901579"/>
            <a:ext cx="392698" cy="392708"/>
          </a:xfrm>
          <a:prstGeom prst="ellipse">
            <a:avLst/>
          </a:prstGeom>
          <a:solidFill>
            <a:srgbClr val="00002E"/>
          </a:solidFill>
          <a:ln w="19050">
            <a:solidFill>
              <a:srgbClr val="D742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1271" y="3943945"/>
            <a:ext cx="246354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075307" y="4796036"/>
            <a:ext cx="383828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2023 — RAG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75307" y="5157391"/>
            <a:ext cx="3838281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Augmenting LLMs with external document retrieval.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187623" y="3574355"/>
            <a:ext cx="19050" cy="523577"/>
          </a:xfrm>
          <a:prstGeom prst="roundRect">
            <a:avLst>
              <a:gd name="adj" fmla="val 49999"/>
            </a:avLst>
          </a:prstGeom>
          <a:solidFill>
            <a:srgbClr val="DD785E"/>
          </a:solidFill>
          <a:ln/>
        </p:spPr>
      </p:sp>
      <p:sp>
        <p:nvSpPr>
          <p:cNvPr id="16" name="Shape 14"/>
          <p:cNvSpPr/>
          <p:nvPr/>
        </p:nvSpPr>
        <p:spPr>
          <a:xfrm>
            <a:off x="7000799" y="3901579"/>
            <a:ext cx="392698" cy="392708"/>
          </a:xfrm>
          <a:prstGeom prst="ellipse">
            <a:avLst/>
          </a:prstGeom>
          <a:solidFill>
            <a:srgbClr val="00002E"/>
          </a:solidFill>
          <a:ln w="19050">
            <a:solidFill>
              <a:srgbClr val="DD78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73971" y="3943945"/>
            <a:ext cx="246354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278008" y="2480072"/>
            <a:ext cx="383828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2024 — Single Agents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78008" y="2841427"/>
            <a:ext cx="3838281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Tool calling, web browsing, and simple execution loops.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390423" y="4097933"/>
            <a:ext cx="19050" cy="523577"/>
          </a:xfrm>
          <a:prstGeom prst="roundRect">
            <a:avLst>
              <a:gd name="adj" fmla="val 49999"/>
            </a:avLst>
          </a:prstGeom>
          <a:solidFill>
            <a:srgbClr val="48A8E2"/>
          </a:solidFill>
          <a:ln/>
        </p:spPr>
      </p:sp>
      <p:sp>
        <p:nvSpPr>
          <p:cNvPr id="21" name="Shape 19"/>
          <p:cNvSpPr/>
          <p:nvPr/>
        </p:nvSpPr>
        <p:spPr>
          <a:xfrm>
            <a:off x="9203599" y="3901579"/>
            <a:ext cx="392698" cy="392708"/>
          </a:xfrm>
          <a:prstGeom prst="ellipse">
            <a:avLst/>
          </a:prstGeom>
          <a:solidFill>
            <a:srgbClr val="00002E"/>
          </a:solidFill>
          <a:ln w="19050">
            <a:solidFill>
              <a:srgbClr val="48A8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6771" y="3943945"/>
            <a:ext cx="246354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480807" y="4796036"/>
            <a:ext cx="383828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2025/2026 — Multi-Agent Orchestration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80807" y="5157391"/>
            <a:ext cx="3838281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Autonomous agent teams collaborating on complex workflows.</a:t>
            </a:r>
            <a:endParaRPr lang="en-US" sz="1350" dirty="0"/>
          </a:p>
        </p:txBody>
      </p:sp>
      <p:sp>
        <p:nvSpPr>
          <p:cNvPr id="25" name="Rectangle 24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603673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Why Single LLMs Fail at Complex Tasks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98086" y="2465983"/>
            <a:ext cx="5310452" cy="1306909"/>
          </a:xfrm>
          <a:prstGeom prst="roundRect">
            <a:avLst>
              <a:gd name="adj" fmla="val 20033"/>
            </a:avLst>
          </a:prstGeom>
          <a:solidFill>
            <a:srgbClr val="00002E"/>
          </a:solidFill>
          <a:ln w="19050">
            <a:solidFill>
              <a:srgbClr val="F2B4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1657" y="2659559"/>
            <a:ext cx="492331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Context Rot &amp; Drift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91657" y="3020913"/>
            <a:ext cx="4923310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Attention degrades significantly as long-context prompts increase in size.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83059" y="2465983"/>
            <a:ext cx="5310551" cy="1306909"/>
          </a:xfrm>
          <a:prstGeom prst="roundRect">
            <a:avLst>
              <a:gd name="adj" fmla="val 20033"/>
            </a:avLst>
          </a:prstGeom>
          <a:solidFill>
            <a:srgbClr val="00002E"/>
          </a:solidFill>
          <a:ln w="19050">
            <a:solidFill>
              <a:srgbClr val="D742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76630" y="2659559"/>
            <a:ext cx="492340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Lack of Specialization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76630" y="3020913"/>
            <a:ext cx="4923409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Expecting one prompt to handle research, coding, testing, and writing leads to mediocrity.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8086" y="3947418"/>
            <a:ext cx="5310452" cy="1306909"/>
          </a:xfrm>
          <a:prstGeom prst="roundRect">
            <a:avLst>
              <a:gd name="adj" fmla="val 20033"/>
            </a:avLst>
          </a:prstGeom>
          <a:solidFill>
            <a:srgbClr val="00002E"/>
          </a:solidFill>
          <a:ln w="19050">
            <a:solidFill>
              <a:srgbClr val="DD78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1657" y="4140994"/>
            <a:ext cx="492331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Cascading Hallucinations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1657" y="4502348"/>
            <a:ext cx="4923310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single mistake early in a complex prompt compounds into severe output errors.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83059" y="3947418"/>
            <a:ext cx="5310551" cy="1306909"/>
          </a:xfrm>
          <a:prstGeom prst="roundRect">
            <a:avLst>
              <a:gd name="adj" fmla="val 20033"/>
            </a:avLst>
          </a:prstGeom>
          <a:solidFill>
            <a:srgbClr val="00002E"/>
          </a:solidFill>
          <a:ln w="19050">
            <a:solidFill>
              <a:srgbClr val="48A8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6630" y="4140994"/>
            <a:ext cx="492340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Infinite Loops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6630" y="4502348"/>
            <a:ext cx="4923409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Single models struggle to self-correct when stuck in logical deadlocks without external critique.</a:t>
            </a:r>
            <a:endParaRPr lang="en-US" sz="1350" dirty="0"/>
          </a:p>
        </p:txBody>
      </p:sp>
      <p:sp>
        <p:nvSpPr>
          <p:cNvPr id="15" name="Rectangle 14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0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90439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Anatomy of a Single AI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152749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core building block of any orchestrated system.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98086" y="2628305"/>
            <a:ext cx="436353" cy="4363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3282851"/>
            <a:ext cx="52886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Brain (Core LLM)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98086" y="3644205"/>
            <a:ext cx="528862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General reasoning, comprehension, and decision making.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204886" y="2628305"/>
            <a:ext cx="436353" cy="4363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04886" y="3282851"/>
            <a:ext cx="528872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Memory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204886" y="3644205"/>
            <a:ext cx="528872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Short-term (conversation thread) and Long-term (Vector DBs / RAG).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98086" y="4272459"/>
            <a:ext cx="436353" cy="4363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8086" y="4927005"/>
            <a:ext cx="52886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Tools &amp; Interfaces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98086" y="5288359"/>
            <a:ext cx="528862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APIs, web searchers, Python interpreters, and SQL connectors.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204886" y="4272459"/>
            <a:ext cx="436353" cy="4363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04886" y="4927005"/>
            <a:ext cx="528872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Planning Engine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204886" y="5288359"/>
            <a:ext cx="528872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Task decomposition, reflection, and self-correction loops.</a:t>
            </a:r>
            <a:endParaRPr lang="en-US" sz="1350" dirty="0"/>
          </a:p>
        </p:txBody>
      </p:sp>
      <p:sp>
        <p:nvSpPr>
          <p:cNvPr id="16" name="Rectangle 15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9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645271"/>
            <a:ext cx="6223638" cy="1026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Power of Multi-Agent Systems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98086" y="3933527"/>
            <a:ext cx="683322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From Individual Agents to Collaborative AI Teams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1264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517352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What is a Multi-Agent System (MAS)?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379663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Shifting from a single overworked generalist to a team of specialized experts.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72379" y="2855218"/>
            <a:ext cx="5436258" cy="2485330"/>
          </a:xfrm>
          <a:prstGeom prst="roundRect">
            <a:avLst>
              <a:gd name="adj" fmla="val 16855"/>
            </a:avLst>
          </a:prstGeom>
          <a:solidFill>
            <a:srgbClr val="1B1B27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46900" y="3029744"/>
            <a:ext cx="508721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Role Specialization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6900" y="3460948"/>
            <a:ext cx="5087215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Each agent operates with a hyper-focused persona and strict goal. Specialization eliminates the mediocrity that emerges when a single model is asked to do everything.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15115" y="3029744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Distributed Intelligence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15115" y="3460948"/>
            <a:ext cx="518484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Complex problems are broken down into manageable atomic tasks. Each sub-task is routed to the agent best equipped to handle it.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15115" y="4193877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Peer Verification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15115" y="4625082"/>
            <a:ext cx="518484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Agents critique and validate each other's work before finalizing outputs, dramatically reducing error propagation across the system.</a:t>
            </a:r>
            <a:endParaRPr lang="en-US" sz="1350" dirty="0"/>
          </a:p>
        </p:txBody>
      </p:sp>
      <p:sp>
        <p:nvSpPr>
          <p:cNvPr id="11" name="Rectangle 10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9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92163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Defining "Orchestration"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654473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Orchestrator: The Project Manager of AI</a:t>
            </a:r>
          </a:p>
        </p:txBody>
      </p:sp>
      <p:sp>
        <p:nvSpPr>
          <p:cNvPr id="4" name="Text 2"/>
          <p:cNvSpPr/>
          <p:nvPr/>
        </p:nvSpPr>
        <p:spPr>
          <a:xfrm>
            <a:off x="959818" y="2326382"/>
            <a:ext cx="10533791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3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It doesn't execute every task itself—it understands the big picture, breaks down the goal, and assigns the right job to the right agent.</a:t>
            </a:r>
            <a:endParaRPr lang="en-US" sz="1350" b="1" dirty="0">
              <a:solidFill>
                <a:srgbClr val="FFFFFF"/>
              </a:solidFill>
              <a:latin typeface="PT Sans Bold" pitchFamily="34" charset="0"/>
              <a:ea typeface="PT Sans Bold" pitchFamily="34" charset="-122"/>
              <a:cs typeface="PT Sans Bold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8086" y="2130028"/>
            <a:ext cx="19050" cy="951111"/>
          </a:xfrm>
          <a:prstGeom prst="roundRect">
            <a:avLst>
              <a:gd name="adj" fmla="val 49999"/>
            </a:avLst>
          </a:prstGeom>
          <a:solidFill>
            <a:srgbClr val="F2B4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98086" y="3277493"/>
            <a:ext cx="5310452" cy="13069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7855" y="3471069"/>
            <a:ext cx="484711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Goal Understanding</a:t>
            </a:r>
            <a:endParaRPr lang="en-US" sz="1600" dirty="0">
              <a:solidFill>
                <a:srgbClr val="FFFFFF"/>
              </a:solidFill>
              <a:latin typeface="Nunito SemiBold" pitchFamily="34" charset="0"/>
              <a:ea typeface="Nunito SemiBold" pitchFamily="34" charset="-122"/>
              <a:cs typeface="Nunito SemiBold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67855" y="3832422"/>
            <a:ext cx="4847112" cy="558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Translates complex user prompts into clear macro objectives </a:t>
            </a:r>
          </a:p>
          <a:p>
            <a:pPr>
              <a:lnSpc>
                <a:spcPct val="133000"/>
              </a:lnSpc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and core goals.</a:t>
            </a: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183059" y="3277493"/>
            <a:ext cx="5310551" cy="13069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52828" y="3471069"/>
            <a:ext cx="484721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Task Planning</a:t>
            </a:r>
            <a:endParaRPr lang="en-US" sz="1600" dirty="0">
              <a:solidFill>
                <a:srgbClr val="FFFFFF"/>
              </a:solidFill>
              <a:latin typeface="Nunito SemiBold" pitchFamily="34" charset="0"/>
              <a:ea typeface="Nunito SemiBold" pitchFamily="34" charset="-122"/>
              <a:cs typeface="Nunito SemiBold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52828" y="3832423"/>
            <a:ext cx="4847211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Draws a step-by-step roadmap and breaks down goals into actionable sub-tasks.</a:t>
            </a: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98086" y="4758928"/>
            <a:ext cx="5310452" cy="13069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855" y="4952504"/>
            <a:ext cx="484711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Smart Delegation</a:t>
            </a:r>
            <a:endParaRPr lang="en-US" sz="1600" dirty="0">
              <a:solidFill>
                <a:srgbClr val="FFFFFF"/>
              </a:solidFill>
              <a:latin typeface="Nunito SemiBold" pitchFamily="34" charset="0"/>
              <a:ea typeface="Nunito SemiBold" pitchFamily="34" charset="-122"/>
              <a:cs typeface="Nunito SemiBold" pitchFamily="34" charset="-12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967855" y="5313859"/>
            <a:ext cx="4847112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Assigns each sub-task to the most specialized AI agent for optimal results.</a:t>
            </a: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183059" y="4758928"/>
            <a:ext cx="5310551" cy="130690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52828" y="4952504"/>
            <a:ext cx="484721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Quality &amp; Delivery</a:t>
            </a:r>
            <a:endParaRPr lang="en-US" sz="1600" dirty="0">
              <a:solidFill>
                <a:srgbClr val="FFFFFF"/>
              </a:solidFill>
              <a:latin typeface="Nunito SemiBold" pitchFamily="34" charset="0"/>
              <a:ea typeface="Nunito SemiBold" pitchFamily="34" charset="-122"/>
              <a:cs typeface="Nunito SemiBold" pitchFamily="34" charset="-12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6452828" y="5313859"/>
            <a:ext cx="4847211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Monitors execution, resolves conflicts, and merges output into the final response.</a:t>
            </a:r>
            <a:endParaRPr lang="en-US" sz="1350" dirty="0">
              <a:solidFill>
                <a:srgbClr val="FFFFFF"/>
              </a:solidFill>
              <a:latin typeface="PT Sans" pitchFamily="34" charset="0"/>
              <a:ea typeface="PT Sans" pitchFamily="34" charset="-122"/>
              <a:cs typeface="PT Sans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6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99145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4 Pillars of Multi-Agent Systems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98086" y="1961455"/>
            <a:ext cx="5310452" cy="18114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48589" y="2092325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91657" y="2659559"/>
            <a:ext cx="492331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Roles &amp; Personas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91657" y="3020913"/>
            <a:ext cx="4923310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Explicit backstories, constraints, and operational domain boundaries assigned to each agent.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183059" y="1961455"/>
            <a:ext cx="5310551" cy="18114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33562" y="2092325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376630" y="2659559"/>
            <a:ext cx="492340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Task Decomposition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376630" y="3020913"/>
            <a:ext cx="4923409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Breaking macro business goals into clear, executable atomic tasks that can be distributed across the system.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98086" y="3947418"/>
            <a:ext cx="5310452" cy="18114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48589" y="4078288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91657" y="4645521"/>
            <a:ext cx="492331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Communication Protocols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91657" y="5006876"/>
            <a:ext cx="4923310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Structured messaging schemas (JSON/Pydantic) governing how agents exchange information between steps.</a:t>
            </a:r>
            <a:endParaRPr lang="en-US" sz="13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183059" y="3947418"/>
            <a:ext cx="5310551" cy="181143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33562" y="4078288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376630" y="4645521"/>
            <a:ext cx="492340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Shared </a:t>
            </a:r>
            <a:r>
              <a:rPr lang="en-US" sz="1600" dirty="0" smtClean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State &amp; Memory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376630" y="5006876"/>
            <a:ext cx="4923409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Centralized memory registers accessible across the agent topology, ensuring coherent context throughout execution.</a:t>
            </a:r>
            <a:endParaRPr lang="en-US" sz="1350" dirty="0"/>
          </a:p>
        </p:txBody>
      </p:sp>
      <p:sp>
        <p:nvSpPr>
          <p:cNvPr id="19" name="Rectangle 18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5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851422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Human-in-the-Loop (HITL) Gates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713732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Ensuring safety, alignment, and operational control.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3189287"/>
            <a:ext cx="392698" cy="392708"/>
          </a:xfrm>
          <a:prstGeom prst="ellipse">
            <a:avLst/>
          </a:prstGeom>
          <a:solidFill>
            <a:srgbClr val="00002E"/>
          </a:solidFill>
          <a:ln w="19050">
            <a:solidFill>
              <a:srgbClr val="F2B42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258" y="3262412"/>
            <a:ext cx="246354" cy="246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5305" y="3249216"/>
            <a:ext cx="288580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Approval Gates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65305" y="3610570"/>
            <a:ext cx="2885804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Halting execution before high-risk actions (e.g., payments, email sending). No irreversible action proceeds without explicit human sign-off.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69286" y="3189287"/>
            <a:ext cx="392698" cy="392708"/>
          </a:xfrm>
          <a:prstGeom prst="ellipse">
            <a:avLst/>
          </a:prstGeom>
          <a:solidFill>
            <a:srgbClr val="00002E"/>
          </a:solidFill>
          <a:ln w="19050">
            <a:solidFill>
              <a:srgbClr val="D7425E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2458" y="3262412"/>
            <a:ext cx="246354" cy="246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36505" y="3249216"/>
            <a:ext cx="288580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Steering &amp; Intervention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936505" y="3610570"/>
            <a:ext cx="2885804" cy="1396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Injecting human guidance when an agent gets stuck in a loop or encounters an ambiguous decision boundary it cannot resolve autonomously.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040486" y="3189287"/>
            <a:ext cx="392698" cy="392708"/>
          </a:xfrm>
          <a:prstGeom prst="ellipse">
            <a:avLst/>
          </a:prstGeom>
          <a:solidFill>
            <a:srgbClr val="00002E"/>
          </a:solidFill>
          <a:ln w="19050">
            <a:solidFill>
              <a:srgbClr val="DD785E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13658" y="3262412"/>
            <a:ext cx="246354" cy="246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07706" y="3249216"/>
            <a:ext cx="288590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Quality Control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607706" y="3610570"/>
            <a:ext cx="2885904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Reviewing synthesized drafts prior to production deployment. Human review remains the final checkpoint before any output reaches end users.</a:t>
            </a:r>
            <a:endParaRPr lang="en-US" sz="1350" dirty="0"/>
          </a:p>
        </p:txBody>
      </p:sp>
      <p:sp>
        <p:nvSpPr>
          <p:cNvPr id="16" name="Rectangle 15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92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872555"/>
            <a:ext cx="1079552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Multi-Agent Collaboration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98086" y="2390973"/>
            <a:ext cx="10795524" cy="2053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How Do Agents Work Together?</a:t>
            </a:r>
            <a:endParaRPr lang="en-US" sz="6450" dirty="0"/>
          </a:p>
        </p:txBody>
      </p:sp>
      <p:sp>
        <p:nvSpPr>
          <p:cNvPr id="4" name="Rectangle 3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70211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Orchestration Patterns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232521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Multi-agent systems leverage various architectural patterns to coordinate agents effectively, moving beyond simple sequential flows.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72379" y="2708077"/>
            <a:ext cx="3566726" cy="2779713"/>
          </a:xfrm>
          <a:prstGeom prst="roundRect">
            <a:avLst>
              <a:gd name="adj" fmla="val 15070"/>
            </a:avLst>
          </a:prstGeom>
          <a:noFill/>
          <a:ln>
            <a:solidFill>
              <a:srgbClr val="F2B42D"/>
            </a:solidFill>
          </a:ln>
        </p:spPr>
      </p:sp>
      <p:sp>
        <p:nvSpPr>
          <p:cNvPr id="6" name="Text 3"/>
          <p:cNvSpPr/>
          <p:nvPr/>
        </p:nvSpPr>
        <p:spPr>
          <a:xfrm>
            <a:off x="746900" y="3789579"/>
            <a:ext cx="321768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Hierarchical Architecture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46900" y="4234036"/>
            <a:ext cx="3217683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Manager-Worker structure. A central Manager agent plans, delegates tasks to specialized workers, and verifies quality.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4319876" y="2708077"/>
            <a:ext cx="3565634" cy="2779713"/>
          </a:xfrm>
          <a:prstGeom prst="roundRect">
            <a:avLst>
              <a:gd name="adj" fmla="val 15070"/>
            </a:avLst>
          </a:prstGeom>
          <a:noFill/>
          <a:ln>
            <a:solidFill>
              <a:srgbClr val="D7425E"/>
            </a:solidFill>
          </a:ln>
        </p:spPr>
      </p:sp>
      <p:sp>
        <p:nvSpPr>
          <p:cNvPr id="10" name="Text 6"/>
          <p:cNvSpPr/>
          <p:nvPr/>
        </p:nvSpPr>
        <p:spPr>
          <a:xfrm>
            <a:off x="4494398" y="3740863"/>
            <a:ext cx="321659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Pipeline Architecture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4494398" y="4172067"/>
            <a:ext cx="3216591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Sequential step-by-step flow. The output of one agent becomes the direct input for the next agent.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66283" y="2708077"/>
            <a:ext cx="3565634" cy="2779713"/>
          </a:xfrm>
          <a:prstGeom prst="roundRect">
            <a:avLst>
              <a:gd name="adj" fmla="val 15070"/>
            </a:avLst>
          </a:prstGeom>
          <a:noFill/>
          <a:ln>
            <a:solidFill>
              <a:srgbClr val="DD785E"/>
            </a:solidFill>
          </a:ln>
        </p:spPr>
      </p:sp>
      <p:sp>
        <p:nvSpPr>
          <p:cNvPr id="14" name="Text 9"/>
          <p:cNvSpPr/>
          <p:nvPr/>
        </p:nvSpPr>
        <p:spPr>
          <a:xfrm>
            <a:off x="8240804" y="3716455"/>
            <a:ext cx="321659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Collaborative Architecture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Text 10"/>
          <p:cNvSpPr/>
          <p:nvPr/>
        </p:nvSpPr>
        <p:spPr>
          <a:xfrm>
            <a:off x="8240804" y="4147660"/>
            <a:ext cx="3216591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Peer-to-peer review loop. Agents communicate, critique, and refine work iteratively until quality thresholds are reached.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6" name="Shape 2"/>
          <p:cNvSpPr/>
          <p:nvPr/>
        </p:nvSpPr>
        <p:spPr>
          <a:xfrm>
            <a:off x="781731" y="2975178"/>
            <a:ext cx="523564" cy="523577"/>
          </a:xfrm>
          <a:prstGeom prst="ellipse">
            <a:avLst/>
          </a:prstGeom>
          <a:solidFill>
            <a:srgbClr val="F2B42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01" y="3007791"/>
            <a:ext cx="431888" cy="431899"/>
          </a:xfrm>
          <a:prstGeom prst="rect">
            <a:avLst/>
          </a:prstGeom>
        </p:spPr>
      </p:pic>
      <p:sp>
        <p:nvSpPr>
          <p:cNvPr id="17" name="Shape 6"/>
          <p:cNvSpPr/>
          <p:nvPr/>
        </p:nvSpPr>
        <p:spPr>
          <a:xfrm>
            <a:off x="4494398" y="2980833"/>
            <a:ext cx="523564" cy="523577"/>
          </a:xfrm>
          <a:prstGeom prst="ellipse">
            <a:avLst/>
          </a:prstGeom>
          <a:solidFill>
            <a:srgbClr val="D7425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220" y="3022797"/>
            <a:ext cx="439006" cy="439017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204987" y="2911574"/>
            <a:ext cx="523564" cy="523577"/>
          </a:xfrm>
          <a:prstGeom prst="ellipse">
            <a:avLst/>
          </a:prstGeom>
          <a:solidFill>
            <a:srgbClr val="DD785E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842" y="2972229"/>
            <a:ext cx="421854" cy="42186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7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87859"/>
            <a:ext cx="10795524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Orchestration Pattern 1: Hierarchical Architecture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941189"/>
            <a:ext cx="10795524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Manager &amp; Workers Pattern for Complex Workflows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98086" y="5374977"/>
            <a:ext cx="10795524" cy="995164"/>
          </a:xfrm>
          <a:prstGeom prst="roundRect">
            <a:avLst>
              <a:gd name="adj" fmla="val 20965"/>
            </a:avLst>
          </a:prstGeom>
          <a:solidFill>
            <a:srgbClr val="785507"/>
          </a:solidFill>
          <a:ln/>
        </p:spPr>
      </p:sp>
      <p:sp>
        <p:nvSpPr>
          <p:cNvPr id="7" name="Text 3"/>
          <p:cNvSpPr/>
          <p:nvPr/>
        </p:nvSpPr>
        <p:spPr>
          <a:xfrm>
            <a:off x="1193373" y="5520531"/>
            <a:ext cx="10161234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When to Use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93373" y="5835848"/>
            <a:ext cx="10161234" cy="399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pattern is best suited for complex, non-linear projects requiring central oversight and dynamic decision-making, such as software development, advanced research, or strategic planning initiatives.</a:t>
            </a:r>
            <a:endParaRPr lang="en-US" sz="105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41" y="1208682"/>
            <a:ext cx="7365613" cy="414416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5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23577"/>
            <a:ext cx="1079552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Orchestration Pattern 2: Pipeline Architecture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98086" y="1257598"/>
            <a:ext cx="1140510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Sequential Step-by-Step Execution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676" y="1648420"/>
            <a:ext cx="8514244" cy="31949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18045" y="4075045"/>
            <a:ext cx="1284173" cy="232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Final Output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099634" y="3958774"/>
            <a:ext cx="1284174" cy="46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Translator Agent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90020" y="4075045"/>
            <a:ext cx="1284174" cy="232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Writer Agent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880405" y="3958774"/>
            <a:ext cx="1284174" cy="46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Researcher Agent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235608" y="4075045"/>
            <a:ext cx="1284173" cy="232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User Request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86170" y="4999038"/>
            <a:ext cx="5431991" cy="1335286"/>
          </a:xfrm>
          <a:prstGeom prst="roundRect">
            <a:avLst>
              <a:gd name="adj" fmla="val 27941"/>
            </a:avLst>
          </a:prstGeom>
          <a:solidFill>
            <a:srgbClr val="1B1B27">
              <a:alpha val="7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41542" y="5137448"/>
            <a:ext cx="5121246" cy="228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Rule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1542" y="5504359"/>
            <a:ext cx="5121246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100% dependency chain. Each agent strictly waits for the completed output of the preceding step before beginning its own task.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91800" y="5137448"/>
            <a:ext cx="5208160" cy="228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When to Use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91800" y="5504359"/>
            <a:ext cx="5208160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Ideal for document creation, translation pipelines, automated content publishing, and any workflow where each stage has a clearly defined input and output contract.</a:t>
            </a:r>
            <a:endParaRPr lang="en-US" sz="1200" dirty="0"/>
          </a:p>
        </p:txBody>
      </p:sp>
      <p:sp>
        <p:nvSpPr>
          <p:cNvPr id="15" name="Rectangle 14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6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96590"/>
            <a:ext cx="10795524" cy="377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Orchestration Pattern 3: Collaborative Architecture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98086" y="911225"/>
            <a:ext cx="1079552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Peer-to-Peer Review &amp; Feedback Loop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8086" y="2956421"/>
            <a:ext cx="3252309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Agent A (Writer)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98086" y="3201392"/>
            <a:ext cx="325230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Drafts initial content or code.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671" y="1278632"/>
            <a:ext cx="3778354" cy="377844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697146" y="2844453"/>
            <a:ext cx="191785" cy="191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77206" y="1963738"/>
            <a:ext cx="331640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Agent B (Critic)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8177206" y="2208709"/>
            <a:ext cx="331640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Reviews content and identifies flaws/errors.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671" y="1278632"/>
            <a:ext cx="3778354" cy="377844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848155" y="2057251"/>
            <a:ext cx="191785" cy="19179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177206" y="3949105"/>
            <a:ext cx="331640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Agent C (Editor)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8177206" y="4194076"/>
            <a:ext cx="331640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Applies corrections and improves accuracy.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671" y="1278632"/>
            <a:ext cx="3778354" cy="377844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6454365" y="4313684"/>
            <a:ext cx="191785" cy="19179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90268" y="5268813"/>
            <a:ext cx="1121292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Execution Loop:</a:t>
            </a: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Continues iterating between agents until a defined Quality Score is achieved (e.g., ≥ 9/10).</a:t>
            </a:r>
            <a:endParaRPr lang="en-US" sz="1000" dirty="0"/>
          </a:p>
        </p:txBody>
      </p:sp>
      <p:sp>
        <p:nvSpPr>
          <p:cNvPr id="17" name="Shape 9"/>
          <p:cNvSpPr/>
          <p:nvPr/>
        </p:nvSpPr>
        <p:spPr>
          <a:xfrm>
            <a:off x="698086" y="5162947"/>
            <a:ext cx="19050" cy="389533"/>
          </a:xfrm>
          <a:prstGeom prst="roundRect">
            <a:avLst>
              <a:gd name="adj" fmla="val 49999"/>
            </a:avLst>
          </a:prstGeom>
          <a:solidFill>
            <a:srgbClr val="F2B42D"/>
          </a:solidFill>
          <a:ln/>
        </p:spPr>
      </p:sp>
      <p:sp>
        <p:nvSpPr>
          <p:cNvPr id="18" name="Shape 10"/>
          <p:cNvSpPr/>
          <p:nvPr/>
        </p:nvSpPr>
        <p:spPr>
          <a:xfrm>
            <a:off x="698086" y="5658346"/>
            <a:ext cx="10795524" cy="702965"/>
          </a:xfrm>
          <a:prstGeom prst="roundRect">
            <a:avLst>
              <a:gd name="adj" fmla="val 27351"/>
            </a:avLst>
          </a:prstGeom>
          <a:solidFill>
            <a:srgbClr val="785507"/>
          </a:solidFill>
          <a:ln/>
        </p:spPr>
      </p:sp>
      <p:sp>
        <p:nvSpPr>
          <p:cNvPr id="20" name="Text 11"/>
          <p:cNvSpPr/>
          <p:nvPr/>
        </p:nvSpPr>
        <p:spPr>
          <a:xfrm>
            <a:off x="1154480" y="5784354"/>
            <a:ext cx="1021104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When to Use</a:t>
            </a:r>
            <a:endParaRPr lang="en-US" sz="1150" dirty="0"/>
          </a:p>
        </p:txBody>
      </p:sp>
      <p:sp>
        <p:nvSpPr>
          <p:cNvPr id="21" name="Text 12"/>
          <p:cNvSpPr/>
          <p:nvPr/>
        </p:nvSpPr>
        <p:spPr>
          <a:xfrm>
            <a:off x="1154480" y="6066929"/>
            <a:ext cx="10820625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Ideal for high-precision requirements, such as security code audits, strict fact-checking workflows, or any scenario demanding iterative refinement to meet stringent quality thresholds.</a:t>
            </a:r>
            <a:endParaRPr lang="en-US" sz="1000" dirty="0"/>
          </a:p>
        </p:txBody>
      </p:sp>
      <p:sp>
        <p:nvSpPr>
          <p:cNvPr id="22" name="Rectangle 21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0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831181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Memory Management in Orchestration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59818" y="3391595"/>
            <a:ext cx="3220262" cy="174526"/>
          </a:xfrm>
          <a:prstGeom prst="roundRect">
            <a:avLst>
              <a:gd name="adj" fmla="val 49999"/>
            </a:avLst>
          </a:prstGeom>
          <a:solidFill>
            <a:srgbClr val="00002E"/>
          </a:solidFill>
          <a:ln w="19050">
            <a:solidFill>
              <a:srgbClr val="F2B4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2607" y="3915172"/>
            <a:ext cx="31330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Entity Memory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2607" y="4276527"/>
            <a:ext cx="3133051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Tracks specific names, concepts, and system-defined project variables.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16434" y="3129756"/>
            <a:ext cx="3220362" cy="174526"/>
          </a:xfrm>
          <a:prstGeom prst="roundRect">
            <a:avLst>
              <a:gd name="adj" fmla="val 49999"/>
            </a:avLst>
          </a:prstGeom>
          <a:solidFill>
            <a:srgbClr val="00002E"/>
          </a:solidFill>
          <a:ln w="19050">
            <a:solidFill>
              <a:srgbClr val="D742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9223" y="3653334"/>
            <a:ext cx="31331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Long-Term Memory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29223" y="4014688"/>
            <a:ext cx="3133151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Vector DBs (ChromaDB, Pinecone) storing past user preferences and historical interactions.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73148" y="2868017"/>
            <a:ext cx="3220362" cy="174526"/>
          </a:xfrm>
          <a:prstGeom prst="roundRect">
            <a:avLst>
              <a:gd name="adj" fmla="val 49999"/>
            </a:avLst>
          </a:prstGeom>
          <a:solidFill>
            <a:srgbClr val="00002E"/>
          </a:solidFill>
          <a:ln w="19050">
            <a:solidFill>
              <a:srgbClr val="DD78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5937" y="3391595"/>
            <a:ext cx="31331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Short-Term Memory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5937" y="3752949"/>
            <a:ext cx="3133151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Active conversation thread context and immediate execution prompt.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98086" y="3217019"/>
            <a:ext cx="523564" cy="523577"/>
          </a:xfrm>
          <a:prstGeom prst="ellipse">
            <a:avLst/>
          </a:prstGeom>
          <a:solidFill>
            <a:srgbClr val="00002E"/>
          </a:solidFill>
          <a:ln w="19050">
            <a:solidFill>
              <a:srgbClr val="F2B42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28952" y="3347988"/>
            <a:ext cx="261733" cy="26173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354701" y="2955181"/>
            <a:ext cx="523564" cy="523577"/>
          </a:xfrm>
          <a:prstGeom prst="ellipse">
            <a:avLst/>
          </a:prstGeom>
          <a:solidFill>
            <a:srgbClr val="00002E"/>
          </a:solidFill>
          <a:ln w="19050">
            <a:solidFill>
              <a:srgbClr val="D7425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485567" y="3086150"/>
            <a:ext cx="261733" cy="26173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11416" y="2693442"/>
            <a:ext cx="523564" cy="523577"/>
          </a:xfrm>
          <a:prstGeom prst="ellipse">
            <a:avLst/>
          </a:prstGeom>
          <a:solidFill>
            <a:srgbClr val="00002E"/>
          </a:solidFill>
          <a:ln w="19050">
            <a:solidFill>
              <a:srgbClr val="DD785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142282" y="2824411"/>
            <a:ext cx="261733" cy="26173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9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16334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Controlling Execution State &amp; Loops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93293" y="2025650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Establishing guardrails for reliable multi-agent operations.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368" y="2697559"/>
            <a:ext cx="572279" cy="5722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3466207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Problem: Infinite Loop Risk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98086" y="3897412"/>
            <a:ext cx="5184844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Agents can become trapped in self-reinforcing, endless correction cycles without reaching a satisfactory consensus or a terminal state. This leads to resource waste and system stagnation.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1398" y="2697559"/>
            <a:ext cx="572279" cy="5722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15115" y="3466207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Architectural Solution: DAG &amp; State Control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315115" y="3897412"/>
            <a:ext cx="5184844" cy="1736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        </a:t>
            </a:r>
            <a:r>
              <a:rPr lang="en-US" sz="13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Max Recursion Limit:</a:t>
            </a: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Implement a hard stop after a defined number of iterations (e.g., 5-10) to prevent runaway processes.           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        </a:t>
            </a:r>
            <a:r>
              <a:rPr lang="en-US" sz="13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Conditional Edges:</a:t>
            </a: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Utilize a State Evaluator to route logic safely, ensuring agents only proceed when specific conditions are met, thus breaking potential loops.           </a:t>
            </a:r>
            <a:endParaRPr lang="en-US" sz="1350" dirty="0"/>
          </a:p>
        </p:txBody>
      </p:sp>
      <p:sp>
        <p:nvSpPr>
          <p:cNvPr id="10" name="Rectangle 9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033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855688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Popular Multi-Agent Frameworks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98086" y="2717998"/>
            <a:ext cx="3482094" cy="2284214"/>
          </a:xfrm>
          <a:prstGeom prst="roundRect">
            <a:avLst>
              <a:gd name="adj" fmla="val 11462"/>
            </a:avLst>
          </a:prstGeom>
          <a:solidFill>
            <a:srgbClr val="00002E"/>
          </a:solidFill>
          <a:ln w="19050">
            <a:solidFill>
              <a:srgbClr val="F2B4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657" y="2911574"/>
            <a:ext cx="523564" cy="523577"/>
          </a:xfrm>
          <a:prstGeom prst="ellipse">
            <a:avLst/>
          </a:prstGeom>
          <a:solidFill>
            <a:srgbClr val="F2B42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35619" y="3055541"/>
            <a:ext cx="235539" cy="2355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1657" y="3609677"/>
            <a:ext cx="309495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CrewAI: Role-Based &amp; Intuitive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1657" y="3971032"/>
            <a:ext cx="3094952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Best for beginner to intermediate developers building role-specialized agent teams.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54701" y="2717998"/>
            <a:ext cx="3482193" cy="2284214"/>
          </a:xfrm>
          <a:prstGeom prst="roundRect">
            <a:avLst>
              <a:gd name="adj" fmla="val 11462"/>
            </a:avLst>
          </a:prstGeom>
          <a:solidFill>
            <a:srgbClr val="00002E"/>
          </a:solidFill>
          <a:ln w="19050">
            <a:solidFill>
              <a:srgbClr val="D742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48272" y="2911574"/>
            <a:ext cx="523564" cy="523577"/>
          </a:xfrm>
          <a:prstGeom prst="ellipse">
            <a:avLst/>
          </a:prstGeom>
          <a:solidFill>
            <a:srgbClr val="D7425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692235" y="3055541"/>
            <a:ext cx="235539" cy="2355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8272" y="3609677"/>
            <a:ext cx="30950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LangGraph: Production-Ready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48272" y="3971032"/>
            <a:ext cx="3095051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Cyclical graph-based framework built for enterprise-grade control and state persistence.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11416" y="2717998"/>
            <a:ext cx="3482193" cy="2284214"/>
          </a:xfrm>
          <a:prstGeom prst="roundRect">
            <a:avLst>
              <a:gd name="adj" fmla="val 11462"/>
            </a:avLst>
          </a:prstGeom>
          <a:solidFill>
            <a:srgbClr val="00002E"/>
          </a:solidFill>
          <a:ln w="19050">
            <a:solidFill>
              <a:srgbClr val="DD785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04987" y="2911574"/>
            <a:ext cx="523564" cy="523577"/>
          </a:xfrm>
          <a:prstGeom prst="ellipse">
            <a:avLst/>
          </a:prstGeom>
          <a:solidFill>
            <a:srgbClr val="DD785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348950" y="3055541"/>
            <a:ext cx="235539" cy="23554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04987" y="3609677"/>
            <a:ext cx="3095051" cy="513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Microsoft AutoGen: Conversational &amp; Code-Driven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04987" y="4227711"/>
            <a:ext cx="3095051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Optimized for multi-agent dialogs and automated code execution pipelines.</a:t>
            </a:r>
            <a:endParaRPr lang="en-US" sz="1350" dirty="0"/>
          </a:p>
        </p:txBody>
      </p:sp>
      <p:sp>
        <p:nvSpPr>
          <p:cNvPr id="18" name="Rectangle 17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7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81112"/>
            <a:ext cx="10795524" cy="417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Hands-on: CrewAI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5992" y="1070967"/>
            <a:ext cx="6543114" cy="5305822"/>
          </a:xfrm>
          <a:prstGeom prst="roundRect">
            <a:avLst>
              <a:gd name="adj" fmla="val 6415"/>
            </a:avLst>
          </a:prstGeom>
          <a:solidFill>
            <a:srgbClr val="1B1B27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7772" y="1200547"/>
            <a:ext cx="6259554" cy="5046663"/>
          </a:xfrm>
          <a:prstGeom prst="roundRect">
            <a:avLst>
              <a:gd name="adj" fmla="val 4215"/>
            </a:avLst>
          </a:prstGeom>
          <a:solidFill>
            <a:srgbClr val="282834"/>
          </a:solidFill>
          <a:ln/>
        </p:spPr>
      </p:sp>
      <p:sp>
        <p:nvSpPr>
          <p:cNvPr id="5" name="Text 3"/>
          <p:cNvSpPr/>
          <p:nvPr/>
        </p:nvSpPr>
        <p:spPr>
          <a:xfrm>
            <a:off x="907928" y="1342330"/>
            <a:ext cx="5919243" cy="476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crewai import Agent, Task, Crew, Process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Define Specialized Agents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researcher = Agent(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role='Financial Researcher',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goal='Analyze market trends',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tools=[search_tool]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 = Agent(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role='Content Strategist',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goal='Craft tech blogs'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100" dirty="0" smtClean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</a:t>
            </a: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Coordinate Crew Execution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crew = Crew(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agents=[researcher, writer],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tasks=[research_task, write_task],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process=Process.sequential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crew.kickoff()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89231" y="1186160"/>
            <a:ext cx="4110629" cy="250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Takeaways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89231" y="1551583"/>
            <a:ext cx="4110629" cy="1765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1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Define specialized agents with clear roles, goals, and available tools.</a:t>
            </a:r>
            <a:endParaRPr lang="en-US" sz="1100" dirty="0"/>
          </a:p>
          <a:p>
            <a:pPr marL="223520" indent="-223520" algn="l">
              <a:lnSpc>
                <a:spcPct val="121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Combine agents and tasks into a `Crew` to manage their interaction.</a:t>
            </a:r>
            <a:endParaRPr lang="en-US" sz="1100" dirty="0"/>
          </a:p>
          <a:p>
            <a:pPr marL="223520" indent="-223520" algn="l">
              <a:lnSpc>
                <a:spcPct val="121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Specify the execution flow, such as `Process.sequential` for linear workflows.</a:t>
            </a:r>
            <a:endParaRPr lang="en-US" sz="1100" dirty="0"/>
          </a:p>
          <a:p>
            <a:pPr marL="223520" indent="-223520" algn="l">
              <a:lnSpc>
                <a:spcPct val="121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Use `crew.kickoff()` to start the multi-agent system and achieve its objectives.</a:t>
            </a:r>
            <a:endParaRPr lang="en-US" sz="1100" dirty="0"/>
          </a:p>
        </p:txBody>
      </p:sp>
      <p:sp>
        <p:nvSpPr>
          <p:cNvPr id="8" name="Rectangle 7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80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55762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Hands-on: LangGraph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2379" y="1630759"/>
            <a:ext cx="5436258" cy="4371380"/>
          </a:xfrm>
          <a:prstGeom prst="roundRect">
            <a:avLst>
              <a:gd name="adj" fmla="val 9583"/>
            </a:avLst>
          </a:prstGeom>
          <a:solidFill>
            <a:srgbClr val="1B1B27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6900" y="1827113"/>
            <a:ext cx="5087215" cy="3978672"/>
          </a:xfrm>
          <a:prstGeom prst="roundRect">
            <a:avLst>
              <a:gd name="adj" fmla="val 6581"/>
            </a:avLst>
          </a:prstGeom>
          <a:solidFill>
            <a:srgbClr val="282834"/>
          </a:solidFill>
          <a:ln/>
        </p:spPr>
      </p:sp>
      <p:sp>
        <p:nvSpPr>
          <p:cNvPr id="5" name="Text 3"/>
          <p:cNvSpPr/>
          <p:nvPr/>
        </p:nvSpPr>
        <p:spPr>
          <a:xfrm>
            <a:off x="956346" y="2001639"/>
            <a:ext cx="4668324" cy="3629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END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 = StateGraph(AgentState)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builder.add_node("researcher", research_node)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builder.add_node("coder", code_node)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builder.add_edge("researcher", "coder")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builder.add_conditional_edges(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"coder",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should_continue,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{"continue": "researcher", "exit": END}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builder.compile()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15115" y="1805285"/>
            <a:ext cx="5184844" cy="308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Graph Logic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315115" y="2287885"/>
            <a:ext cx="5184844" cy="207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Nodes:</a:t>
            </a: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Independent functions or agents that perform specific tasks.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Edges:</a:t>
            </a: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Define direct communication pathways, dictating how information flows between nodes.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Conditional Edges:</a:t>
            </a: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Provide state-based routing logic, enabling dynamic workflow decisions and preventing infinite execution loops.</a:t>
            </a:r>
            <a:endParaRPr lang="en-US" sz="1350" dirty="0"/>
          </a:p>
        </p:txBody>
      </p:sp>
      <p:sp>
        <p:nvSpPr>
          <p:cNvPr id="8" name="Rectangle 7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4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90835"/>
            <a:ext cx="10795524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Real-World Case Study: Automated Dev Team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98086" y="1207195"/>
            <a:ext cx="11405108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Experience an end-to-end multi-agent system designed to automate a complete software development lifecycle.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305" y="1586508"/>
            <a:ext cx="8395085" cy="38422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6457" y="2758233"/>
            <a:ext cx="1576113" cy="2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QA Agent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326457" y="4104791"/>
            <a:ext cx="1576113" cy="136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Executes automated unit tests and sends bug reports back to Developer until pass.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40123" y="2611832"/>
            <a:ext cx="1576113" cy="571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Developer Agent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40122" y="4104791"/>
            <a:ext cx="1576113" cy="910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Writes production Python/FastAPI code implementation.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364584" y="2611833"/>
            <a:ext cx="1576113" cy="571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Architect Agent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373189" y="4104790"/>
            <a:ext cx="1576113" cy="910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Designs database schema and drafts OpenAPI endpoints.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344610" y="2469046"/>
            <a:ext cx="1576113" cy="856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Product Manager Agent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345865" y="4111120"/>
            <a:ext cx="1576113" cy="910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Parses user requirements into granular technical user stories.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98086" y="5579070"/>
            <a:ext cx="10795524" cy="787995"/>
          </a:xfrm>
          <a:prstGeom prst="roundRect">
            <a:avLst>
              <a:gd name="adj" fmla="val 29072"/>
            </a:avLst>
          </a:prstGeom>
          <a:solidFill>
            <a:srgbClr val="785507"/>
          </a:solidFill>
          <a:ln/>
        </p:spPr>
      </p:sp>
      <p:sp>
        <p:nvSpPr>
          <p:cNvPr id="15" name="Text 11"/>
          <p:cNvSpPr/>
          <p:nvPr/>
        </p:nvSpPr>
        <p:spPr>
          <a:xfrm>
            <a:off x="1022572" y="5744070"/>
            <a:ext cx="10146550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automated pipeline showcases how specialized agents can collaborate seamlessly, enabling rapid iteration and ensuring code quality from concept to completion.</a:t>
            </a:r>
            <a:endParaRPr lang="en-US" sz="1200" dirty="0"/>
          </a:p>
        </p:txBody>
      </p:sp>
      <p:sp>
        <p:nvSpPr>
          <p:cNvPr id="16" name="Rectangle 15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0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855688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Production Engineering Challenges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98086" y="2717998"/>
            <a:ext cx="3482094" cy="2284214"/>
          </a:xfrm>
          <a:prstGeom prst="roundRect">
            <a:avLst>
              <a:gd name="adj" fmla="val 11462"/>
            </a:avLst>
          </a:prstGeom>
          <a:solidFill>
            <a:srgbClr val="00002E"/>
          </a:solidFill>
          <a:ln w="19050">
            <a:solidFill>
              <a:srgbClr val="FFA72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657" y="2911574"/>
            <a:ext cx="523564" cy="523577"/>
          </a:xfrm>
          <a:prstGeom prst="ellipse">
            <a:avLst/>
          </a:prstGeom>
          <a:solidFill>
            <a:srgbClr val="FFA72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35619" y="3055541"/>
            <a:ext cx="235539" cy="2355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1657" y="3609677"/>
            <a:ext cx="309495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Token Cost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1657" y="3971032"/>
            <a:ext cx="3094952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 token consumption caused by repetitive inter-agent dialogue.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54701" y="2717998"/>
            <a:ext cx="3482193" cy="2284214"/>
          </a:xfrm>
          <a:prstGeom prst="roundRect">
            <a:avLst>
              <a:gd name="adj" fmla="val 11462"/>
            </a:avLst>
          </a:prstGeom>
          <a:solidFill>
            <a:srgbClr val="00002E"/>
          </a:solidFill>
          <a:ln w="19050">
            <a:solidFill>
              <a:srgbClr val="FFCA2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48272" y="2911574"/>
            <a:ext cx="523564" cy="523577"/>
          </a:xfrm>
          <a:prstGeom prst="ellipse">
            <a:avLst/>
          </a:prstGeom>
          <a:solidFill>
            <a:srgbClr val="FFCA2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692235" y="3055541"/>
            <a:ext cx="235539" cy="2355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8272" y="3609677"/>
            <a:ext cx="30950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Execution Latency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48272" y="3971032"/>
            <a:ext cx="3095051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Sequential multi-step reasoning adds noticeable latency compared to single queries.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11416" y="2717998"/>
            <a:ext cx="3482193" cy="2284214"/>
          </a:xfrm>
          <a:prstGeom prst="roundRect">
            <a:avLst>
              <a:gd name="adj" fmla="val 11462"/>
            </a:avLst>
          </a:prstGeom>
          <a:solidFill>
            <a:srgbClr val="00002E"/>
          </a:solidFill>
          <a:ln w="19050">
            <a:solidFill>
              <a:srgbClr val="FF8A6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04987" y="2911574"/>
            <a:ext cx="523564" cy="523577"/>
          </a:xfrm>
          <a:prstGeom prst="ellipse">
            <a:avLst/>
          </a:prstGeom>
          <a:solidFill>
            <a:srgbClr val="FF8A6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348950" y="3055541"/>
            <a:ext cx="235539" cy="23554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04987" y="3609677"/>
            <a:ext cx="30950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System Observability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04987" y="3971032"/>
            <a:ext cx="3095051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Difficulty in debugging complex interaction chains without specialized tracing (e.g., LangSmith).</a:t>
            </a:r>
            <a:endParaRPr lang="en-US" sz="1350" dirty="0"/>
          </a:p>
        </p:txBody>
      </p:sp>
      <p:sp>
        <p:nvSpPr>
          <p:cNvPr id="18" name="Rectangle 17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3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98086" y="95756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Security &amp; Risk Mitigation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98086" y="1732558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Ensuring Robust Multi-Agent Systems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98086" y="2208113"/>
            <a:ext cx="10795524" cy="1926332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25787" y="3040360"/>
            <a:ext cx="261733" cy="26173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89742" y="2401689"/>
            <a:ext cx="971029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Security Threats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89742" y="2763044"/>
            <a:ext cx="9710296" cy="1177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Indirect Prompt Injection:</a:t>
            </a: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Agents reading malicious payload from untrusted external files, leading to unintended actions or data breaches.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Cascading Failures:</a:t>
            </a: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 minor hallucination or error in early steps can escalate downstream, corrupting subsequent agent outputs and the final result.</a:t>
            </a:r>
            <a:endParaRPr lang="en-US" sz="13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98086" y="4308971"/>
            <a:ext cx="10795524" cy="1926332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925787" y="5141218"/>
            <a:ext cx="261733" cy="2617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89742" y="4502547"/>
            <a:ext cx="9710296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Prevention Strategy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589742" y="4863902"/>
            <a:ext cx="9710296" cy="1177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Strict Guardrails:</a:t>
            </a: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Implement robust input and output validation layers between graph nodes to sanitize data and prevent malicious instructions from propagating.</a:t>
            </a:r>
            <a:endParaRPr lang="en-US" sz="1350" dirty="0"/>
          </a:p>
          <a:p>
            <a:pPr marL="274320" indent="-274320" algn="l">
              <a:lnSpc>
                <a:spcPct val="1330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Human-in-the-Loop (HITL):</a:t>
            </a: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Introduce mandatory human approval gates for high-risk executions, sensitive data access, or critical decision points within the workflow.</a:t>
            </a:r>
            <a:endParaRPr lang="en-US" sz="1350" dirty="0"/>
          </a:p>
        </p:txBody>
      </p:sp>
      <p:sp>
        <p:nvSpPr>
          <p:cNvPr id="16" name="Rectangle 15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38759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The Future of Agentic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201069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As Multi-Agent Systems evolve, we anticipate several transformative shifts across industries and AI development.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2676624"/>
            <a:ext cx="3482094" cy="2842617"/>
          </a:xfrm>
          <a:prstGeom prst="roundRect">
            <a:avLst>
              <a:gd name="adj" fmla="val 9210"/>
            </a:avLst>
          </a:prstGeom>
          <a:solidFill>
            <a:srgbClr val="00002E"/>
          </a:solidFill>
          <a:ln w="19050">
            <a:solidFill>
              <a:srgbClr val="F2B4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657" y="2870200"/>
            <a:ext cx="523564" cy="523577"/>
          </a:xfrm>
          <a:prstGeom prst="ellipse">
            <a:avLst/>
          </a:prstGeom>
          <a:solidFill>
            <a:srgbClr val="F2B4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35619" y="3014166"/>
            <a:ext cx="235539" cy="2355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1657" y="3568303"/>
            <a:ext cx="309495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Digital Workforce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1657" y="3929658"/>
            <a:ext cx="3094952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Organizations shifting from traditional software to specialized "Agent Workforces" that autonomously handle complex, multi-step tasks.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54701" y="2676624"/>
            <a:ext cx="3482193" cy="2842617"/>
          </a:xfrm>
          <a:prstGeom prst="roundRect">
            <a:avLst>
              <a:gd name="adj" fmla="val 9210"/>
            </a:avLst>
          </a:prstGeom>
          <a:solidFill>
            <a:srgbClr val="00002E"/>
          </a:solidFill>
          <a:ln w="19050">
            <a:solidFill>
              <a:srgbClr val="D742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8272" y="2870200"/>
            <a:ext cx="523564" cy="523577"/>
          </a:xfrm>
          <a:prstGeom prst="ellipse">
            <a:avLst/>
          </a:prstGeom>
          <a:solidFill>
            <a:srgbClr val="D7425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692235" y="3014166"/>
            <a:ext cx="235539" cy="2355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8272" y="3568303"/>
            <a:ext cx="30950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Universal Protocols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48272" y="3929658"/>
            <a:ext cx="3095051" cy="1396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Emergence of standardized Agent-to-Agent (A2A) communication protocols to enable seamless interaction and interoperability between diverse agent systems.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11416" y="2676624"/>
            <a:ext cx="3482193" cy="2842617"/>
          </a:xfrm>
          <a:prstGeom prst="roundRect">
            <a:avLst>
              <a:gd name="adj" fmla="val 9210"/>
            </a:avLst>
          </a:prstGeom>
          <a:solidFill>
            <a:srgbClr val="00002E"/>
          </a:solidFill>
          <a:ln w="19050">
            <a:solidFill>
              <a:srgbClr val="DD785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04987" y="2870200"/>
            <a:ext cx="523564" cy="523577"/>
          </a:xfrm>
          <a:prstGeom prst="ellipse">
            <a:avLst/>
          </a:prstGeom>
          <a:solidFill>
            <a:srgbClr val="DD785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348950" y="3014166"/>
            <a:ext cx="235539" cy="2355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04987" y="3568303"/>
            <a:ext cx="30950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Advanced Reasoning Models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04987" y="3929658"/>
            <a:ext cx="3095051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Integration with next-generation reasoning models for truly autonomous long-horizon planning, problem-solving, and decision-making capabilities.</a:t>
            </a:r>
            <a:endParaRPr lang="en-US" sz="1350" dirty="0"/>
          </a:p>
        </p:txBody>
      </p:sp>
      <p:sp>
        <p:nvSpPr>
          <p:cNvPr id="19" name="Rectangle 18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3118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Conclusion &amp; 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93293" y="1893491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Reflecting on the transformative power of Multi-Agent Systems.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2369046"/>
            <a:ext cx="3482094" cy="2563416"/>
          </a:xfrm>
          <a:prstGeom prst="roundRect">
            <a:avLst>
              <a:gd name="adj" fmla="val 10214"/>
            </a:avLst>
          </a:prstGeom>
          <a:solidFill>
            <a:srgbClr val="00002E"/>
          </a:solidFill>
          <a:ln w="19050">
            <a:solidFill>
              <a:srgbClr val="F2B4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657" y="2562622"/>
            <a:ext cx="523564" cy="523577"/>
          </a:xfrm>
          <a:prstGeom prst="ellipse">
            <a:avLst/>
          </a:prstGeom>
          <a:solidFill>
            <a:srgbClr val="F2B42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35619" y="2706588"/>
            <a:ext cx="235539" cy="2355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1657" y="3260725"/>
            <a:ext cx="309495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Specialization Beats Scale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1657" y="3622080"/>
            <a:ext cx="3094952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Specialized agents outperform single LLMs for complex, multi-step tasks, reducing cognitive load and improving accuracy.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54701" y="2369046"/>
            <a:ext cx="3482193" cy="2563416"/>
          </a:xfrm>
          <a:prstGeom prst="roundRect">
            <a:avLst>
              <a:gd name="adj" fmla="val 10214"/>
            </a:avLst>
          </a:prstGeom>
          <a:solidFill>
            <a:srgbClr val="00002E"/>
          </a:solidFill>
          <a:ln w="19050">
            <a:solidFill>
              <a:srgbClr val="D742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8272" y="2562622"/>
            <a:ext cx="523564" cy="523577"/>
          </a:xfrm>
          <a:prstGeom prst="ellipse">
            <a:avLst/>
          </a:prstGeom>
          <a:solidFill>
            <a:srgbClr val="D7425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692235" y="2706588"/>
            <a:ext cx="235539" cy="2355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8272" y="3260725"/>
            <a:ext cx="30950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Strategic Orchestration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48272" y="3622080"/>
            <a:ext cx="3095051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Effective orchestration is crucial, seamlessly coordinating state management, memory, and intelligent task routing among agents.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11416" y="2369046"/>
            <a:ext cx="3482193" cy="2563416"/>
          </a:xfrm>
          <a:prstGeom prst="roundRect">
            <a:avLst>
              <a:gd name="adj" fmla="val 10214"/>
            </a:avLst>
          </a:prstGeom>
          <a:solidFill>
            <a:srgbClr val="00002E"/>
          </a:solidFill>
          <a:ln w="19050">
            <a:solidFill>
              <a:srgbClr val="DD785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04987" y="2562622"/>
            <a:ext cx="523564" cy="523577"/>
          </a:xfrm>
          <a:prstGeom prst="ellipse">
            <a:avLst/>
          </a:prstGeom>
          <a:solidFill>
            <a:srgbClr val="DD785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348950" y="2706588"/>
            <a:ext cx="235539" cy="2355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04987" y="3260725"/>
            <a:ext cx="3095051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Framework Selection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04987" y="3622080"/>
            <a:ext cx="3095051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Choose CrewAI for rapid prototyping and simplified workflows; opt for LangGraph for fine-grained, state-controlled production systems.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98086" y="5128816"/>
            <a:ext cx="10795524" cy="697905"/>
          </a:xfrm>
          <a:prstGeom prst="roundRect">
            <a:avLst>
              <a:gd name="adj" fmla="val 37515"/>
            </a:avLst>
          </a:prstGeom>
          <a:solidFill>
            <a:srgbClr val="785507"/>
          </a:solidFill>
          <a:ln/>
        </p:spPr>
      </p:sp>
      <p:sp>
        <p:nvSpPr>
          <p:cNvPr id="21" name="Text 15"/>
          <p:cNvSpPr/>
          <p:nvPr/>
        </p:nvSpPr>
        <p:spPr>
          <a:xfrm>
            <a:off x="891657" y="5348960"/>
            <a:ext cx="1066336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Multi-Agent Systems represent the shift from static AI responses to dynamic, autonomous execution.</a:t>
            </a:r>
            <a:endParaRPr lang="en-US" sz="1350" dirty="0"/>
          </a:p>
        </p:txBody>
      </p:sp>
      <p:sp>
        <p:nvSpPr>
          <p:cNvPr id="22" name="Rectangle 21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5229" y="1272209"/>
            <a:ext cx="10795524" cy="2319129"/>
          </a:xfrm>
          <a:prstGeom prst="roundRect">
            <a:avLst>
              <a:gd name="adj" fmla="val 19353"/>
            </a:avLst>
          </a:prstGeom>
          <a:solidFill>
            <a:srgbClr val="785507"/>
          </a:solidFill>
          <a:ln/>
        </p:spPr>
      </p:sp>
      <p:sp>
        <p:nvSpPr>
          <p:cNvPr id="4" name="Text 1"/>
          <p:cNvSpPr/>
          <p:nvPr/>
        </p:nvSpPr>
        <p:spPr>
          <a:xfrm>
            <a:off x="645229" y="1644353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Interactive Discussion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58443" y="2168454"/>
            <a:ext cx="10769095" cy="1198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 is the first workflow in your organization that you </a:t>
            </a:r>
            <a:r>
              <a:rPr lang="en-US" sz="2400" dirty="0" smtClean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would convert into</a:t>
            </a: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2400" dirty="0" smtClean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Multi-Agent system </a:t>
            </a:r>
            <a:r>
              <a:rPr lang="en-US" sz="24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today?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98086" y="3115469"/>
            <a:ext cx="10795524" cy="11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   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0" y="4952390"/>
            <a:ext cx="12192000" cy="301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Open for Q&amp;A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-106017" y="4319305"/>
            <a:ext cx="12298017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Thank you for your time and attention!</a:t>
            </a:r>
            <a:endParaRPr lang="en-US" sz="2600" dirty="0"/>
          </a:p>
        </p:txBody>
      </p:sp>
      <p:sp>
        <p:nvSpPr>
          <p:cNvPr id="10" name="Rectangle 9"/>
          <p:cNvSpPr/>
          <p:nvPr/>
        </p:nvSpPr>
        <p:spPr>
          <a:xfrm>
            <a:off x="11015002" y="6569612"/>
            <a:ext cx="1176997" cy="288388"/>
          </a:xfrm>
          <a:prstGeom prst="rect">
            <a:avLst/>
          </a:prstGeom>
          <a:solidFill>
            <a:srgbClr val="00002E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1832</Words>
  <Application>Microsoft Office PowerPoint</Application>
  <PresentationFormat>Widescreen</PresentationFormat>
  <Paragraphs>257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Calibri</vt:lpstr>
      <vt:lpstr>PT Sans Bold</vt:lpstr>
      <vt:lpstr>PT Sans</vt:lpstr>
      <vt:lpstr>Consolas</vt:lpstr>
      <vt:lpstr>Nunito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Maher</cp:lastModifiedBy>
  <cp:revision>3</cp:revision>
  <dcterms:created xsi:type="dcterms:W3CDTF">2026-09-09T21:53:57Z</dcterms:created>
  <dcterms:modified xsi:type="dcterms:W3CDTF">2026-09-09T22:16:55Z</dcterms:modified>
</cp:coreProperties>
</file>